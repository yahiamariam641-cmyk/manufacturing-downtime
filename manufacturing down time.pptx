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Zantiqa" charset="1" panose="02000803000000020004"/>
      <p:regular r:id="rId35"/>
    </p:embeddedFont>
    <p:embeddedFont>
      <p:font typeface="Decalotype" charset="1" panose="00000500000000000000"/>
      <p:regular r:id="rId36"/>
    </p:embeddedFont>
    <p:embeddedFont>
      <p:font typeface="Decalotype Bold" charset="1" panose="000008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74554" y="3170751"/>
            <a:ext cx="11058103" cy="272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44"/>
              </a:lnSpc>
            </a:pPr>
            <a:r>
              <a:rPr lang="en-US" sz="10561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manufacturing down time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368457" y="5894519"/>
            <a:ext cx="6859826" cy="5662475"/>
          </a:xfrm>
          <a:custGeom>
            <a:avLst/>
            <a:gdLst/>
            <a:ahLst/>
            <a:cxnLst/>
            <a:rect r="r" b="b" t="t" l="l"/>
            <a:pathLst>
              <a:path h="5662475" w="6859826">
                <a:moveTo>
                  <a:pt x="0" y="0"/>
                </a:moveTo>
                <a:lnTo>
                  <a:pt x="6859826" y="0"/>
                </a:lnTo>
                <a:lnTo>
                  <a:pt x="6859826" y="5662474"/>
                </a:lnTo>
                <a:lnTo>
                  <a:pt x="0" y="56624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3651" y="4162892"/>
            <a:ext cx="5695163" cy="6405603"/>
          </a:xfrm>
          <a:custGeom>
            <a:avLst/>
            <a:gdLst/>
            <a:ahLst/>
            <a:cxnLst/>
            <a:rect r="r" b="b" t="t" l="l"/>
            <a:pathLst>
              <a:path h="6405603" w="5695163">
                <a:moveTo>
                  <a:pt x="0" y="0"/>
                </a:moveTo>
                <a:lnTo>
                  <a:pt x="5695164" y="0"/>
                </a:lnTo>
                <a:lnTo>
                  <a:pt x="5695164" y="6405603"/>
                </a:lnTo>
                <a:lnTo>
                  <a:pt x="0" y="64056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67932" y="-717105"/>
            <a:ext cx="4542485" cy="5067681"/>
          </a:xfrm>
          <a:custGeom>
            <a:avLst/>
            <a:gdLst/>
            <a:ahLst/>
            <a:cxnLst/>
            <a:rect r="r" b="b" t="t" l="l"/>
            <a:pathLst>
              <a:path h="5067681" w="4542485">
                <a:moveTo>
                  <a:pt x="0" y="0"/>
                </a:moveTo>
                <a:lnTo>
                  <a:pt x="4542486" y="0"/>
                </a:lnTo>
                <a:lnTo>
                  <a:pt x="4542486" y="5067682"/>
                </a:lnTo>
                <a:lnTo>
                  <a:pt x="0" y="50676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26530" y="-1397727"/>
            <a:ext cx="4844030" cy="4852854"/>
          </a:xfrm>
          <a:custGeom>
            <a:avLst/>
            <a:gdLst/>
            <a:ahLst/>
            <a:cxnLst/>
            <a:rect r="r" b="b" t="t" l="l"/>
            <a:pathLst>
              <a:path h="4852854" w="4844030">
                <a:moveTo>
                  <a:pt x="0" y="0"/>
                </a:moveTo>
                <a:lnTo>
                  <a:pt x="4844030" y="0"/>
                </a:lnTo>
                <a:lnTo>
                  <a:pt x="4844030" y="4852854"/>
                </a:lnTo>
                <a:lnTo>
                  <a:pt x="0" y="48528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55898" y="8511095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744528" y="7024157"/>
            <a:ext cx="8829398" cy="1053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10"/>
              </a:lnSpc>
            </a:pPr>
            <a:r>
              <a:rPr lang="en-US" sz="6150" spc="67">
                <a:solidFill>
                  <a:srgbClr val="262626"/>
                </a:solidFill>
                <a:latin typeface="Decalotype"/>
                <a:ea typeface="Decalotype"/>
                <a:cs typeface="Decalotype"/>
                <a:sym typeface="Decalotype"/>
              </a:rPr>
              <a:t>Presentation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345430" y="-2057400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69680" y="4479319"/>
            <a:ext cx="6545941" cy="923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Our Team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5859176"/>
            <a:ext cx="6859826" cy="5662475"/>
          </a:xfrm>
          <a:custGeom>
            <a:avLst/>
            <a:gdLst/>
            <a:ahLst/>
            <a:cxnLst/>
            <a:rect r="r" b="b" t="t" l="l"/>
            <a:pathLst>
              <a:path h="5662475" w="6859826">
                <a:moveTo>
                  <a:pt x="0" y="0"/>
                </a:moveTo>
                <a:lnTo>
                  <a:pt x="6859826" y="0"/>
                </a:lnTo>
                <a:lnTo>
                  <a:pt x="6859826" y="5662475"/>
                </a:lnTo>
                <a:lnTo>
                  <a:pt x="0" y="5662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56413" y="5403218"/>
            <a:ext cx="4592401" cy="5165278"/>
          </a:xfrm>
          <a:custGeom>
            <a:avLst/>
            <a:gdLst/>
            <a:ahLst/>
            <a:cxnLst/>
            <a:rect r="r" b="b" t="t" l="l"/>
            <a:pathLst>
              <a:path h="5165278" w="4592401">
                <a:moveTo>
                  <a:pt x="0" y="0"/>
                </a:moveTo>
                <a:lnTo>
                  <a:pt x="4592402" y="0"/>
                </a:lnTo>
                <a:lnTo>
                  <a:pt x="4592402" y="5165277"/>
                </a:lnTo>
                <a:lnTo>
                  <a:pt x="0" y="51652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53084" y="-783513"/>
            <a:ext cx="4542485" cy="5067681"/>
          </a:xfrm>
          <a:custGeom>
            <a:avLst/>
            <a:gdLst/>
            <a:ahLst/>
            <a:cxnLst/>
            <a:rect r="r" b="b" t="t" l="l"/>
            <a:pathLst>
              <a:path h="5067681" w="4542485">
                <a:moveTo>
                  <a:pt x="0" y="0"/>
                </a:moveTo>
                <a:lnTo>
                  <a:pt x="4542485" y="0"/>
                </a:lnTo>
                <a:lnTo>
                  <a:pt x="4542485" y="5067682"/>
                </a:lnTo>
                <a:lnTo>
                  <a:pt x="0" y="50676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23958" y="-1245913"/>
            <a:ext cx="4844030" cy="4852854"/>
          </a:xfrm>
          <a:custGeom>
            <a:avLst/>
            <a:gdLst/>
            <a:ahLst/>
            <a:cxnLst/>
            <a:rect r="r" b="b" t="t" l="l"/>
            <a:pathLst>
              <a:path h="4852854" w="4844030">
                <a:moveTo>
                  <a:pt x="0" y="0"/>
                </a:moveTo>
                <a:lnTo>
                  <a:pt x="4844031" y="0"/>
                </a:lnTo>
                <a:lnTo>
                  <a:pt x="4844031" y="4852853"/>
                </a:lnTo>
                <a:lnTo>
                  <a:pt x="0" y="48528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55898" y="8511095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01417" y="-1738611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859826" y="2372816"/>
            <a:ext cx="10166106" cy="622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95981" indent="-647991" lvl="1">
              <a:lnSpc>
                <a:spcPts val="8403"/>
              </a:lnSpc>
              <a:buAutoNum type="arabicPeriod" startAt="1"/>
            </a:pPr>
            <a:r>
              <a:rPr lang="en-US" sz="6002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Abdelrahman Ibrahim</a:t>
            </a:r>
          </a:p>
          <a:p>
            <a:pPr algn="l" marL="1274392" indent="-637196" lvl="1">
              <a:lnSpc>
                <a:spcPts val="8263"/>
              </a:lnSpc>
              <a:buAutoNum type="arabicPeriod" startAt="1"/>
            </a:pPr>
            <a:r>
              <a:rPr lang="en-US" sz="5902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J</a:t>
            </a:r>
            <a:r>
              <a:rPr lang="en-US" sz="5902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asmine Tawfiq </a:t>
            </a:r>
          </a:p>
          <a:p>
            <a:pPr algn="l" marL="1274392" indent="-637196" lvl="1">
              <a:lnSpc>
                <a:spcPts val="8263"/>
              </a:lnSpc>
              <a:buAutoNum type="arabicPeriod" startAt="1"/>
            </a:pPr>
            <a:r>
              <a:rPr lang="en-US" sz="5902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Sara Akram </a:t>
            </a:r>
          </a:p>
          <a:p>
            <a:pPr algn="l" marL="1274392" indent="-637196" lvl="1">
              <a:lnSpc>
                <a:spcPts val="8263"/>
              </a:lnSpc>
              <a:buAutoNum type="arabicPeriod" startAt="1"/>
            </a:pPr>
            <a:r>
              <a:rPr lang="en-US" sz="5902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Malak Zein </a:t>
            </a:r>
          </a:p>
          <a:p>
            <a:pPr algn="l" marL="1274392" indent="-637196" lvl="1">
              <a:lnSpc>
                <a:spcPts val="8263"/>
              </a:lnSpc>
              <a:buAutoNum type="arabicPeriod" startAt="1"/>
            </a:pPr>
            <a:r>
              <a:rPr lang="en-US" sz="5902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Mariam Sayed </a:t>
            </a:r>
          </a:p>
          <a:p>
            <a:pPr algn="l" marL="1166443" indent="-583221" lvl="1">
              <a:lnSpc>
                <a:spcPts val="7563"/>
              </a:lnSpc>
              <a:spcBef>
                <a:spcPct val="0"/>
              </a:spcBef>
              <a:buAutoNum type="arabicPeriod" startAt="1"/>
            </a:pPr>
            <a:r>
              <a:rPr lang="en-US" sz="5402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M</a:t>
            </a:r>
            <a:r>
              <a:rPr lang="en-US" sz="5402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ariam Yahia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32741" y="2587846"/>
            <a:ext cx="6545941" cy="923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20027" y="3853040"/>
            <a:ext cx="8087643" cy="3192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30">
                <a:solidFill>
                  <a:srgbClr val="000000"/>
                </a:solidFill>
                <a:latin typeface="Decalotype"/>
                <a:ea typeface="Decalotype"/>
                <a:cs typeface="Decalotype"/>
                <a:sym typeface="Decalotype"/>
              </a:rPr>
              <a:t>The Problem</a:t>
            </a:r>
          </a:p>
          <a:p>
            <a:pPr algn="l">
              <a:lnSpc>
                <a:spcPts val="4339"/>
              </a:lnSpc>
            </a:pPr>
            <a:r>
              <a:rPr lang="en-US" sz="3099" spc="34">
                <a:solidFill>
                  <a:srgbClr val="000000"/>
                </a:solidFill>
                <a:latin typeface="Decalotype"/>
                <a:ea typeface="Decalotype"/>
                <a:cs typeface="Decalotype"/>
                <a:sym typeface="Decalotype"/>
              </a:rPr>
              <a:t>Unplanned machine breakdowns cost time and money, causing a 15% drop in weekly production capacity. Without data, maintenance teams are stuck constantly reacting to failures after they happen. </a:t>
            </a:r>
          </a:p>
          <a:p>
            <a:pPr algn="l">
              <a:lnSpc>
                <a:spcPts val="433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6564094"/>
            <a:ext cx="6005851" cy="4957557"/>
          </a:xfrm>
          <a:custGeom>
            <a:avLst/>
            <a:gdLst/>
            <a:ahLst/>
            <a:cxnLst/>
            <a:rect r="r" b="b" t="t" l="l"/>
            <a:pathLst>
              <a:path h="4957557" w="6005851">
                <a:moveTo>
                  <a:pt x="0" y="0"/>
                </a:moveTo>
                <a:lnTo>
                  <a:pt x="6005851" y="0"/>
                </a:lnTo>
                <a:lnTo>
                  <a:pt x="6005851" y="4957557"/>
                </a:lnTo>
                <a:lnTo>
                  <a:pt x="0" y="49575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54899" y="5477688"/>
            <a:ext cx="4592401" cy="5165278"/>
          </a:xfrm>
          <a:custGeom>
            <a:avLst/>
            <a:gdLst/>
            <a:ahLst/>
            <a:cxnLst/>
            <a:rect r="r" b="b" t="t" l="l"/>
            <a:pathLst>
              <a:path h="5165278" w="4592401">
                <a:moveTo>
                  <a:pt x="0" y="0"/>
                </a:moveTo>
                <a:lnTo>
                  <a:pt x="4592401" y="0"/>
                </a:lnTo>
                <a:lnTo>
                  <a:pt x="4592401" y="5165277"/>
                </a:lnTo>
                <a:lnTo>
                  <a:pt x="0" y="51652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66399" y="3009423"/>
            <a:ext cx="4542485" cy="5067681"/>
          </a:xfrm>
          <a:custGeom>
            <a:avLst/>
            <a:gdLst/>
            <a:ahLst/>
            <a:cxnLst/>
            <a:rect r="r" b="b" t="t" l="l"/>
            <a:pathLst>
              <a:path h="5067681" w="4542485">
                <a:moveTo>
                  <a:pt x="0" y="0"/>
                </a:moveTo>
                <a:lnTo>
                  <a:pt x="4542485" y="0"/>
                </a:lnTo>
                <a:lnTo>
                  <a:pt x="4542485" y="5067681"/>
                </a:lnTo>
                <a:lnTo>
                  <a:pt x="0" y="5067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0666" y="-1285762"/>
            <a:ext cx="3340764" cy="3346849"/>
          </a:xfrm>
          <a:custGeom>
            <a:avLst/>
            <a:gdLst/>
            <a:ahLst/>
            <a:cxnLst/>
            <a:rect r="r" b="b" t="t" l="l"/>
            <a:pathLst>
              <a:path h="3346849" w="3340764">
                <a:moveTo>
                  <a:pt x="0" y="0"/>
                </a:moveTo>
                <a:lnTo>
                  <a:pt x="3340764" y="0"/>
                </a:lnTo>
                <a:lnTo>
                  <a:pt x="3340764" y="3346849"/>
                </a:lnTo>
                <a:lnTo>
                  <a:pt x="0" y="33468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63848" y="8391549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9" y="0"/>
                </a:lnTo>
                <a:lnTo>
                  <a:pt x="42600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037641" y="-1439747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9" y="0"/>
                </a:lnTo>
                <a:lnTo>
                  <a:pt x="42600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32741" y="2587846"/>
            <a:ext cx="6545941" cy="923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1048" y="4232067"/>
            <a:ext cx="8087643" cy="338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spc="28">
                <a:solidFill>
                  <a:srgbClr val="000000"/>
                </a:solidFill>
                <a:latin typeface="Decalotype"/>
                <a:ea typeface="Decalotype"/>
                <a:cs typeface="Decalotype"/>
                <a:sym typeface="Decalotype"/>
              </a:rPr>
              <a:t>Our Solution</a:t>
            </a:r>
          </a:p>
          <a:p>
            <a:pPr algn="l">
              <a:lnSpc>
                <a:spcPts val="3919"/>
              </a:lnSpc>
            </a:pPr>
            <a:r>
              <a:rPr lang="en-US" sz="2799" spc="30">
                <a:solidFill>
                  <a:srgbClr val="000000"/>
                </a:solidFill>
                <a:latin typeface="Decalotype"/>
                <a:ea typeface="Decalotype"/>
                <a:cs typeface="Decalotype"/>
                <a:sym typeface="Decalotype"/>
              </a:rPr>
              <a:t>We developed a smart data pipeline that uncovers hidden patterns—like why night shifts face 22% more delays. By using machine learning, our system predicts next-day breakdowns with 84.2% accuracy, allowing teams to fix machines before they break.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6564094"/>
            <a:ext cx="6005851" cy="4957557"/>
          </a:xfrm>
          <a:custGeom>
            <a:avLst/>
            <a:gdLst/>
            <a:ahLst/>
            <a:cxnLst/>
            <a:rect r="r" b="b" t="t" l="l"/>
            <a:pathLst>
              <a:path h="4957557" w="6005851">
                <a:moveTo>
                  <a:pt x="0" y="0"/>
                </a:moveTo>
                <a:lnTo>
                  <a:pt x="6005851" y="0"/>
                </a:lnTo>
                <a:lnTo>
                  <a:pt x="6005851" y="4957557"/>
                </a:lnTo>
                <a:lnTo>
                  <a:pt x="0" y="49575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54899" y="5477688"/>
            <a:ext cx="4592401" cy="5165278"/>
          </a:xfrm>
          <a:custGeom>
            <a:avLst/>
            <a:gdLst/>
            <a:ahLst/>
            <a:cxnLst/>
            <a:rect r="r" b="b" t="t" l="l"/>
            <a:pathLst>
              <a:path h="5165278" w="4592401">
                <a:moveTo>
                  <a:pt x="0" y="0"/>
                </a:moveTo>
                <a:lnTo>
                  <a:pt x="4592401" y="0"/>
                </a:lnTo>
                <a:lnTo>
                  <a:pt x="4592401" y="5165277"/>
                </a:lnTo>
                <a:lnTo>
                  <a:pt x="0" y="51652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66399" y="3009423"/>
            <a:ext cx="4542485" cy="5067681"/>
          </a:xfrm>
          <a:custGeom>
            <a:avLst/>
            <a:gdLst/>
            <a:ahLst/>
            <a:cxnLst/>
            <a:rect r="r" b="b" t="t" l="l"/>
            <a:pathLst>
              <a:path h="5067681" w="4542485">
                <a:moveTo>
                  <a:pt x="0" y="0"/>
                </a:moveTo>
                <a:lnTo>
                  <a:pt x="4542485" y="0"/>
                </a:lnTo>
                <a:lnTo>
                  <a:pt x="4542485" y="5067681"/>
                </a:lnTo>
                <a:lnTo>
                  <a:pt x="0" y="5067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0666" y="-1285762"/>
            <a:ext cx="3340764" cy="3346849"/>
          </a:xfrm>
          <a:custGeom>
            <a:avLst/>
            <a:gdLst/>
            <a:ahLst/>
            <a:cxnLst/>
            <a:rect r="r" b="b" t="t" l="l"/>
            <a:pathLst>
              <a:path h="3346849" w="3340764">
                <a:moveTo>
                  <a:pt x="0" y="0"/>
                </a:moveTo>
                <a:lnTo>
                  <a:pt x="3340764" y="0"/>
                </a:lnTo>
                <a:lnTo>
                  <a:pt x="3340764" y="3346849"/>
                </a:lnTo>
                <a:lnTo>
                  <a:pt x="0" y="33468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63848" y="8391549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9" y="0"/>
                </a:lnTo>
                <a:lnTo>
                  <a:pt x="42600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037641" y="-1439747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9" y="0"/>
                </a:lnTo>
                <a:lnTo>
                  <a:pt x="42600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7932" y="-717105"/>
            <a:ext cx="4542485" cy="5067681"/>
          </a:xfrm>
          <a:custGeom>
            <a:avLst/>
            <a:gdLst/>
            <a:ahLst/>
            <a:cxnLst/>
            <a:rect r="r" b="b" t="t" l="l"/>
            <a:pathLst>
              <a:path h="5067681" w="4542485">
                <a:moveTo>
                  <a:pt x="0" y="0"/>
                </a:moveTo>
                <a:lnTo>
                  <a:pt x="4542486" y="0"/>
                </a:lnTo>
                <a:lnTo>
                  <a:pt x="4542486" y="5067682"/>
                </a:lnTo>
                <a:lnTo>
                  <a:pt x="0" y="5067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37641" y="-1439747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9" y="0"/>
                </a:lnTo>
                <a:lnTo>
                  <a:pt x="42600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57103" y="914400"/>
            <a:ext cx="9780538" cy="775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085"/>
              </a:lnSpc>
              <a:spcBef>
                <a:spcPct val="0"/>
              </a:spcBef>
            </a:pPr>
            <a:r>
              <a:rPr lang="en-US" sz="4346">
                <a:solidFill>
                  <a:srgbClr val="49B697"/>
                </a:solidFill>
                <a:latin typeface="Zantiqa"/>
                <a:ea typeface="Zantiqa"/>
                <a:cs typeface="Zantiqa"/>
                <a:sym typeface="Zantiqa"/>
              </a:rPr>
              <a:t>The Challenge: Why This</a:t>
            </a:r>
            <a:r>
              <a:rPr lang="en-US" sz="4346">
                <a:solidFill>
                  <a:srgbClr val="49B697"/>
                </a:solidFill>
                <a:latin typeface="Zantiqa"/>
                <a:ea typeface="Zantiqa"/>
                <a:cs typeface="Zantiqa"/>
                <a:sym typeface="Zantiqa"/>
              </a:rPr>
              <a:t> Matters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74554" y="1527886"/>
            <a:ext cx="9041457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1Eroding</a:t>
            </a:r>
            <a:r>
              <a:rPr lang="en-US" sz="68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 Efficiency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74554" y="2639849"/>
            <a:ext cx="9789998" cy="171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545"/>
              </a:lnSpc>
              <a:spcBef>
                <a:spcPct val="0"/>
              </a:spcBef>
            </a:pPr>
            <a:r>
              <a:rPr lang="en-US" sz="32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Manufacturing downtime is a primary driver of operational cost escalation and production efficiency</a:t>
            </a:r>
            <a:r>
              <a:rPr lang="en-US" sz="32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loss</a:t>
            </a:r>
            <a:r>
              <a:rPr lang="ar-EG" sz="32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607752"/>
            <a:ext cx="9455348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Schedule</a:t>
            </a:r>
            <a:r>
              <a:rPr lang="en-US" sz="68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 Disruption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440" y="5729240"/>
            <a:ext cx="8630251" cy="1436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782"/>
              </a:lnSpc>
              <a:spcBef>
                <a:spcPct val="0"/>
              </a:spcBef>
            </a:pPr>
            <a:r>
              <a:rPr lang="en-US" sz="2701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Operating without predictive insights leads to a reactive "firefighting"</a:t>
            </a:r>
            <a:r>
              <a:rPr lang="en-US" sz="2701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culture rather than proactive maintenance</a:t>
            </a:r>
            <a:r>
              <a:rPr lang="ar-EG" sz="2701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05971" y="6681740"/>
            <a:ext cx="9463340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The</a:t>
            </a:r>
            <a:r>
              <a:rPr lang="en-US" sz="68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 Visibility Gap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83247" y="7927053"/>
            <a:ext cx="11131788" cy="1891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5"/>
              </a:lnSpc>
              <a:spcBef>
                <a:spcPct val="0"/>
              </a:spcBef>
            </a:pPr>
            <a:r>
              <a:rPr lang="en-US" sz="35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A lack of visibility into downtime patterns leaves significant efficiency gains untapped across the industry.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5215" y="4607752"/>
            <a:ext cx="873485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73741" y="6681740"/>
            <a:ext cx="1270259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59856" y="-1217537"/>
            <a:ext cx="4844030" cy="4852854"/>
          </a:xfrm>
          <a:custGeom>
            <a:avLst/>
            <a:gdLst/>
            <a:ahLst/>
            <a:cxnLst/>
            <a:rect r="r" b="b" t="t" l="l"/>
            <a:pathLst>
              <a:path h="4852854" w="4844030">
                <a:moveTo>
                  <a:pt x="0" y="0"/>
                </a:moveTo>
                <a:lnTo>
                  <a:pt x="4844030" y="0"/>
                </a:lnTo>
                <a:lnTo>
                  <a:pt x="4844030" y="4852854"/>
                </a:lnTo>
                <a:lnTo>
                  <a:pt x="0" y="48528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55898" y="8511095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13986" y="-2285769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4165" y="1320358"/>
            <a:ext cx="7959666" cy="883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925"/>
              </a:lnSpc>
              <a:spcBef>
                <a:spcPct val="0"/>
              </a:spcBef>
            </a:pPr>
            <a:r>
              <a:rPr lang="en-US" sz="4946">
                <a:solidFill>
                  <a:srgbClr val="49B697"/>
                </a:solidFill>
                <a:latin typeface="Zantiqa"/>
                <a:ea typeface="Zantiqa"/>
                <a:cs typeface="Zantiqa"/>
                <a:sym typeface="Zantiqa"/>
              </a:rPr>
              <a:t>Strategic</a:t>
            </a:r>
            <a:r>
              <a:rPr lang="en-US" sz="4946">
                <a:solidFill>
                  <a:srgbClr val="49B697"/>
                </a:solidFill>
                <a:latin typeface="Zantiqa"/>
                <a:ea typeface="Zantiqa"/>
                <a:cs typeface="Zantiqa"/>
                <a:sym typeface="Zantiqa"/>
              </a:rPr>
              <a:t> Objectives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9360" y="2214264"/>
            <a:ext cx="939105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75279" y="2385714"/>
            <a:ext cx="6356152" cy="966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625"/>
              </a:lnSpc>
              <a:spcBef>
                <a:spcPct val="0"/>
              </a:spcBef>
            </a:pPr>
            <a:r>
              <a:rPr lang="en-US" sz="54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Data</a:t>
            </a:r>
            <a:r>
              <a:rPr lang="en-US" sz="54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 Preparation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524" y="3247486"/>
            <a:ext cx="9094476" cy="1927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047"/>
              </a:lnSpc>
              <a:spcBef>
                <a:spcPct val="0"/>
              </a:spcBef>
            </a:pPr>
            <a:r>
              <a:rPr lang="en-US" sz="3605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Clean and preprocess manufacturing data to ensure</a:t>
            </a:r>
            <a:r>
              <a:rPr lang="en-US" sz="3605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accuracy for downstream analysis</a:t>
            </a:r>
            <a:r>
              <a:rPr lang="ar-EG" sz="3605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11016" y="1453456"/>
            <a:ext cx="1050429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93017" y="1614112"/>
            <a:ext cx="6412260" cy="914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345"/>
              </a:lnSpc>
              <a:spcBef>
                <a:spcPct val="0"/>
              </a:spcBef>
            </a:pPr>
            <a:r>
              <a:rPr lang="en-US" sz="52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Pattern</a:t>
            </a:r>
            <a:r>
              <a:rPr lang="en-US" sz="52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 Detection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14956" y="2669444"/>
            <a:ext cx="8252531" cy="1836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825"/>
              </a:lnSpc>
              <a:spcBef>
                <a:spcPct val="0"/>
              </a:spcBef>
            </a:pPr>
            <a:r>
              <a:rPr lang="en-US" sz="34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Analyze downtime across machines and shifts</a:t>
            </a:r>
            <a:r>
              <a:rPr lang="en-US" sz="34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to reveal operational patterns</a:t>
            </a:r>
            <a:r>
              <a:rPr lang="ar-EG" sz="34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9724" y="5949389"/>
            <a:ext cx="1004441" cy="115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5"/>
              </a:lnSpc>
              <a:spcBef>
                <a:spcPct val="0"/>
              </a:spcBef>
            </a:pPr>
            <a:r>
              <a:rPr lang="en-US" sz="65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87166" y="6092264"/>
            <a:ext cx="7056834" cy="900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065"/>
              </a:lnSpc>
              <a:spcBef>
                <a:spcPct val="0"/>
              </a:spcBef>
            </a:pPr>
            <a:r>
              <a:rPr lang="en-US" sz="50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Root Cause</a:t>
            </a:r>
            <a:r>
              <a:rPr lang="en-US" sz="50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 Analysis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8756" y="7367194"/>
            <a:ext cx="9325075" cy="1891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965"/>
              </a:lnSpc>
              <a:spcBef>
                <a:spcPct val="0"/>
              </a:spcBef>
            </a:pPr>
            <a:r>
              <a:rPr lang="en-US" sz="35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Identify key factors—operator training, machine</a:t>
            </a:r>
            <a:r>
              <a:rPr lang="en-US" sz="35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age—that affect efficiency</a:t>
            </a:r>
            <a:r>
              <a:rPr lang="ar-EG" sz="35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85802" y="5170484"/>
            <a:ext cx="1050429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04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22449" y="5341617"/>
            <a:ext cx="8553910" cy="883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925"/>
              </a:lnSpc>
              <a:spcBef>
                <a:spcPct val="0"/>
              </a:spcBef>
            </a:pPr>
            <a:r>
              <a:rPr lang="en-US" sz="49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Predictive</a:t>
            </a:r>
            <a:r>
              <a:rPr lang="en-US" sz="49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 Capability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05950" y="6301854"/>
            <a:ext cx="8782050" cy="2209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805"/>
              </a:lnSpc>
              <a:spcBef>
                <a:spcPct val="0"/>
              </a:spcBef>
            </a:pPr>
            <a:r>
              <a:rPr lang="en-US" sz="4146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Build</a:t>
            </a:r>
            <a:r>
              <a:rPr lang="en-US" sz="4146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models to forecast downtime with measurable accuracy and confidence</a:t>
            </a:r>
            <a:r>
              <a:rPr lang="ar-EG" sz="4146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357366"/>
            <a:ext cx="5044838" cy="4164285"/>
          </a:xfrm>
          <a:custGeom>
            <a:avLst/>
            <a:gdLst/>
            <a:ahLst/>
            <a:cxnLst/>
            <a:rect r="r" b="b" t="t" l="l"/>
            <a:pathLst>
              <a:path h="4164285" w="5044838">
                <a:moveTo>
                  <a:pt x="0" y="0"/>
                </a:moveTo>
                <a:lnTo>
                  <a:pt x="5044838" y="0"/>
                </a:lnTo>
                <a:lnTo>
                  <a:pt x="5044838" y="4164285"/>
                </a:lnTo>
                <a:lnTo>
                  <a:pt x="0" y="41642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40033" y="2474016"/>
            <a:ext cx="7613735" cy="8563505"/>
          </a:xfrm>
          <a:custGeom>
            <a:avLst/>
            <a:gdLst/>
            <a:ahLst/>
            <a:cxnLst/>
            <a:rect r="r" b="b" t="t" l="l"/>
            <a:pathLst>
              <a:path h="8563505" w="7613735">
                <a:moveTo>
                  <a:pt x="0" y="0"/>
                </a:moveTo>
                <a:lnTo>
                  <a:pt x="7613735" y="0"/>
                </a:lnTo>
                <a:lnTo>
                  <a:pt x="7613735" y="8563506"/>
                </a:lnTo>
                <a:lnTo>
                  <a:pt x="0" y="8563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49251" y="-2596433"/>
            <a:ext cx="4542485" cy="5067681"/>
          </a:xfrm>
          <a:custGeom>
            <a:avLst/>
            <a:gdLst/>
            <a:ahLst/>
            <a:cxnLst/>
            <a:rect r="r" b="b" t="t" l="l"/>
            <a:pathLst>
              <a:path h="5067681" w="4542485">
                <a:moveTo>
                  <a:pt x="0" y="0"/>
                </a:moveTo>
                <a:lnTo>
                  <a:pt x="4542485" y="0"/>
                </a:lnTo>
                <a:lnTo>
                  <a:pt x="4542485" y="5067682"/>
                </a:lnTo>
                <a:lnTo>
                  <a:pt x="0" y="50676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546236" y="-846909"/>
            <a:ext cx="3092471" cy="3098104"/>
          </a:xfrm>
          <a:custGeom>
            <a:avLst/>
            <a:gdLst/>
            <a:ahLst/>
            <a:cxnLst/>
            <a:rect r="r" b="b" t="t" l="l"/>
            <a:pathLst>
              <a:path h="3098104" w="3092471">
                <a:moveTo>
                  <a:pt x="0" y="0"/>
                </a:moveTo>
                <a:lnTo>
                  <a:pt x="3092472" y="0"/>
                </a:lnTo>
                <a:lnTo>
                  <a:pt x="3092472" y="3098104"/>
                </a:lnTo>
                <a:lnTo>
                  <a:pt x="0" y="30981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731394" y="8083529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9" y="0"/>
                </a:lnTo>
                <a:lnTo>
                  <a:pt x="42600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24330" y="-1097439"/>
            <a:ext cx="2948276" cy="2847767"/>
          </a:xfrm>
          <a:custGeom>
            <a:avLst/>
            <a:gdLst/>
            <a:ahLst/>
            <a:cxnLst/>
            <a:rect r="r" b="b" t="t" l="l"/>
            <a:pathLst>
              <a:path h="2847767" w="2948276">
                <a:moveTo>
                  <a:pt x="0" y="0"/>
                </a:moveTo>
                <a:lnTo>
                  <a:pt x="2948276" y="0"/>
                </a:lnTo>
                <a:lnTo>
                  <a:pt x="2948276" y="2847767"/>
                </a:lnTo>
                <a:lnTo>
                  <a:pt x="0" y="28477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72471" y="2797459"/>
            <a:ext cx="1449948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05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01799" y="2877787"/>
            <a:ext cx="8059192" cy="105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8465"/>
              </a:lnSpc>
              <a:spcBef>
                <a:spcPct val="0"/>
              </a:spcBef>
            </a:pPr>
            <a:r>
              <a:rPr lang="en-US" sz="60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Actionable</a:t>
            </a:r>
            <a:r>
              <a:rPr lang="en-US" sz="60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 Insights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97445" y="4039046"/>
            <a:ext cx="9302533" cy="2352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216"/>
              </a:lnSpc>
              <a:spcBef>
                <a:spcPct val="0"/>
              </a:spcBef>
            </a:pPr>
            <a:r>
              <a:rPr lang="en-US" sz="4440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Create dashboards to enable data-driven production and maintenance</a:t>
            </a:r>
            <a:r>
              <a:rPr lang="en-US" sz="4440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decisions</a:t>
            </a:r>
            <a:r>
              <a:rPr lang="ar-EG" sz="4440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57657" y="6107775"/>
            <a:ext cx="4592401" cy="5165278"/>
          </a:xfrm>
          <a:custGeom>
            <a:avLst/>
            <a:gdLst/>
            <a:ahLst/>
            <a:cxnLst/>
            <a:rect r="r" b="b" t="t" l="l"/>
            <a:pathLst>
              <a:path h="5165278" w="4592401">
                <a:moveTo>
                  <a:pt x="0" y="0"/>
                </a:moveTo>
                <a:lnTo>
                  <a:pt x="4592401" y="0"/>
                </a:lnTo>
                <a:lnTo>
                  <a:pt x="4592401" y="5165278"/>
                </a:lnTo>
                <a:lnTo>
                  <a:pt x="0" y="51652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91921" y="1028700"/>
            <a:ext cx="3695812" cy="3702544"/>
          </a:xfrm>
          <a:custGeom>
            <a:avLst/>
            <a:gdLst/>
            <a:ahLst/>
            <a:cxnLst/>
            <a:rect r="r" b="b" t="t" l="l"/>
            <a:pathLst>
              <a:path h="3702544" w="3695812">
                <a:moveTo>
                  <a:pt x="0" y="0"/>
                </a:moveTo>
                <a:lnTo>
                  <a:pt x="3695812" y="0"/>
                </a:lnTo>
                <a:lnTo>
                  <a:pt x="3695812" y="3702544"/>
                </a:lnTo>
                <a:lnTo>
                  <a:pt x="0" y="37025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19010" y="8998465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9" y="0"/>
                </a:lnTo>
                <a:lnTo>
                  <a:pt x="42600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29286" y="-1762305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29854" y="448470"/>
            <a:ext cx="12665174" cy="914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345"/>
              </a:lnSpc>
              <a:spcBef>
                <a:spcPct val="0"/>
              </a:spcBef>
            </a:pPr>
            <a:r>
              <a:rPr lang="en-US" sz="5246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Methodology</a:t>
            </a:r>
            <a:r>
              <a:rPr lang="en-US" sz="5246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&amp; Technology Stack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03891" y="1672688"/>
            <a:ext cx="10929048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01.</a:t>
            </a:r>
            <a:r>
              <a:rPr lang="en-US" sz="68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 Data Preprocessing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1099" y="2775126"/>
            <a:ext cx="12233928" cy="1332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309"/>
              </a:lnSpc>
              <a:spcBef>
                <a:spcPct val="0"/>
              </a:spcBef>
            </a:pPr>
            <a:r>
              <a:rPr lang="en-US" sz="3792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Clean and preprocess manufacturing data to ensure</a:t>
            </a:r>
            <a:r>
              <a:rPr lang="en-US" sz="3792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accuracy for downstream analysis</a:t>
            </a:r>
            <a:r>
              <a:rPr lang="ar-EG" sz="3792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61099" y="4051438"/>
            <a:ext cx="1050429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72451" y="4116467"/>
            <a:ext cx="9361587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PATTERN</a:t>
            </a:r>
            <a:r>
              <a:rPr lang="en-US" sz="68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 DETECTION</a:t>
            </a:r>
            <a:r>
              <a:rPr lang="ar-EG" sz="68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99518" y="3805853"/>
            <a:ext cx="234894" cy="119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7"/>
              </a:lnSpc>
              <a:spcBef>
                <a:spcPct val="0"/>
              </a:spcBef>
            </a:pPr>
            <a:r>
              <a:rPr lang="en-US" sz="6848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4985" y="5323680"/>
            <a:ext cx="13116519" cy="1314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245"/>
              </a:lnSpc>
              <a:spcBef>
                <a:spcPct val="0"/>
              </a:spcBef>
            </a:pPr>
            <a:r>
              <a:rPr lang="en-US" sz="37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Analyze downtime across machines and shifts</a:t>
            </a:r>
            <a:r>
              <a:rPr lang="en-US" sz="37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to reveal operational patterns</a:t>
            </a:r>
            <a:r>
              <a:rPr lang="ar-EG" sz="37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61099" y="6581056"/>
            <a:ext cx="1050429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72451" y="6647731"/>
            <a:ext cx="10455473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ROOT</a:t>
            </a:r>
            <a:r>
              <a:rPr lang="en-US" sz="68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 CAUSE ANALYSIS</a:t>
            </a:r>
            <a:r>
              <a:rPr lang="ar-EG" sz="68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19148" y="6476281"/>
            <a:ext cx="430528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7683494"/>
            <a:ext cx="12687548" cy="1314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221"/>
              </a:lnSpc>
              <a:spcBef>
                <a:spcPct val="0"/>
              </a:spcBef>
            </a:pPr>
            <a:r>
              <a:rPr lang="en-US" sz="3729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Identify key factors—operator</a:t>
            </a:r>
            <a:r>
              <a:rPr lang="en-US" sz="3729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training, machine age—that affect efficiency</a:t>
            </a:r>
            <a:r>
              <a:rPr lang="ar-EG" sz="3729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53654" y="6874154"/>
            <a:ext cx="11052422" cy="9123272"/>
          </a:xfrm>
          <a:custGeom>
            <a:avLst/>
            <a:gdLst/>
            <a:ahLst/>
            <a:cxnLst/>
            <a:rect r="r" b="b" t="t" l="l"/>
            <a:pathLst>
              <a:path h="9123272" w="11052422">
                <a:moveTo>
                  <a:pt x="0" y="0"/>
                </a:moveTo>
                <a:lnTo>
                  <a:pt x="11052422" y="0"/>
                </a:lnTo>
                <a:lnTo>
                  <a:pt x="11052422" y="9123272"/>
                </a:lnTo>
                <a:lnTo>
                  <a:pt x="0" y="9123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765076" y="5842279"/>
            <a:ext cx="4592401" cy="5165278"/>
          </a:xfrm>
          <a:custGeom>
            <a:avLst/>
            <a:gdLst/>
            <a:ahLst/>
            <a:cxnLst/>
            <a:rect r="r" b="b" t="t" l="l"/>
            <a:pathLst>
              <a:path h="5165278" w="4592401">
                <a:moveTo>
                  <a:pt x="4592402" y="0"/>
                </a:moveTo>
                <a:lnTo>
                  <a:pt x="0" y="0"/>
                </a:lnTo>
                <a:lnTo>
                  <a:pt x="0" y="5165277"/>
                </a:lnTo>
                <a:lnTo>
                  <a:pt x="4592402" y="5165277"/>
                </a:lnTo>
                <a:lnTo>
                  <a:pt x="459240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05560" y="-1923158"/>
            <a:ext cx="4542485" cy="5067681"/>
          </a:xfrm>
          <a:custGeom>
            <a:avLst/>
            <a:gdLst/>
            <a:ahLst/>
            <a:cxnLst/>
            <a:rect r="r" b="b" t="t" l="l"/>
            <a:pathLst>
              <a:path h="5067681" w="4542485">
                <a:moveTo>
                  <a:pt x="0" y="0"/>
                </a:moveTo>
                <a:lnTo>
                  <a:pt x="4542485" y="0"/>
                </a:lnTo>
                <a:lnTo>
                  <a:pt x="4542485" y="5067681"/>
                </a:lnTo>
                <a:lnTo>
                  <a:pt x="0" y="5067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152789" y="-783513"/>
            <a:ext cx="2783320" cy="2788390"/>
          </a:xfrm>
          <a:custGeom>
            <a:avLst/>
            <a:gdLst/>
            <a:ahLst/>
            <a:cxnLst/>
            <a:rect r="r" b="b" t="t" l="l"/>
            <a:pathLst>
              <a:path h="2788390" w="2783320">
                <a:moveTo>
                  <a:pt x="0" y="0"/>
                </a:moveTo>
                <a:lnTo>
                  <a:pt x="2783320" y="0"/>
                </a:lnTo>
                <a:lnTo>
                  <a:pt x="2783320" y="2788390"/>
                </a:lnTo>
                <a:lnTo>
                  <a:pt x="0" y="27883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827316" y="-3229700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48947" y="1141017"/>
            <a:ext cx="1363563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04</a:t>
            </a:r>
            <a:r>
              <a:rPr lang="ar-EG" sz="68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30531" y="2233930"/>
            <a:ext cx="12675029" cy="139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518"/>
              </a:lnSpc>
              <a:spcBef>
                <a:spcPct val="0"/>
              </a:spcBef>
            </a:pPr>
            <a:r>
              <a:rPr lang="en-US" sz="3942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Build models to forecast downtime with measurable</a:t>
            </a:r>
            <a:r>
              <a:rPr lang="en-US" sz="3942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accuracy and confidence</a:t>
            </a:r>
            <a:r>
              <a:rPr lang="ar-EG" sz="3942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06650" y="3815727"/>
            <a:ext cx="1023351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61073" y="3860495"/>
            <a:ext cx="9325675" cy="1108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8745"/>
              </a:lnSpc>
              <a:spcBef>
                <a:spcPct val="0"/>
              </a:spcBef>
            </a:pPr>
            <a:r>
              <a:rPr lang="en-US" sz="62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ACTIONABLE</a:t>
            </a:r>
            <a:r>
              <a:rPr lang="en-US" sz="62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 INSIGHTS</a:t>
            </a:r>
            <a:r>
              <a:rPr lang="ar-EG" sz="62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19783" y="5038725"/>
            <a:ext cx="9633168" cy="2145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665"/>
              </a:lnSpc>
              <a:spcBef>
                <a:spcPct val="0"/>
              </a:spcBef>
            </a:pPr>
            <a:r>
              <a:rPr lang="en-US" sz="4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Create dashboards to enable data-driven production and maintenance</a:t>
            </a:r>
            <a:r>
              <a:rPr lang="en-US" sz="4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decisions</a:t>
            </a:r>
            <a:r>
              <a:rPr lang="ar-EG" sz="4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87254" y="1282623"/>
            <a:ext cx="9364712" cy="105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8465"/>
              </a:lnSpc>
              <a:spcBef>
                <a:spcPct val="0"/>
              </a:spcBef>
            </a:pPr>
            <a:r>
              <a:rPr lang="en-US" sz="60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PREDICTIVE</a:t>
            </a:r>
            <a:r>
              <a:rPr lang="en-US" sz="60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 CAPABILITY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41675" y="4055945"/>
            <a:ext cx="1778108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49397" y="1311198"/>
            <a:ext cx="737857" cy="815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9"/>
              </a:lnSpc>
              <a:spcBef>
                <a:spcPct val="0"/>
              </a:spcBef>
            </a:pPr>
            <a:r>
              <a:rPr lang="en-US" sz="4628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656475"/>
            <a:ext cx="5893936" cy="4865176"/>
          </a:xfrm>
          <a:custGeom>
            <a:avLst/>
            <a:gdLst/>
            <a:ahLst/>
            <a:cxnLst/>
            <a:rect r="r" b="b" t="t" l="l"/>
            <a:pathLst>
              <a:path h="4865176" w="5893936">
                <a:moveTo>
                  <a:pt x="0" y="0"/>
                </a:moveTo>
                <a:lnTo>
                  <a:pt x="5893936" y="0"/>
                </a:lnTo>
                <a:lnTo>
                  <a:pt x="5893936" y="4865176"/>
                </a:lnTo>
                <a:lnTo>
                  <a:pt x="0" y="48651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57997" y="-1738611"/>
            <a:ext cx="4542485" cy="5067681"/>
          </a:xfrm>
          <a:custGeom>
            <a:avLst/>
            <a:gdLst/>
            <a:ahLst/>
            <a:cxnLst/>
            <a:rect r="r" b="b" t="t" l="l"/>
            <a:pathLst>
              <a:path h="5067681" w="4542485">
                <a:moveTo>
                  <a:pt x="0" y="0"/>
                </a:moveTo>
                <a:lnTo>
                  <a:pt x="4542485" y="0"/>
                </a:lnTo>
                <a:lnTo>
                  <a:pt x="4542485" y="5067681"/>
                </a:lnTo>
                <a:lnTo>
                  <a:pt x="0" y="5067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64579" y="-789515"/>
            <a:ext cx="3163725" cy="3169488"/>
          </a:xfrm>
          <a:custGeom>
            <a:avLst/>
            <a:gdLst/>
            <a:ahLst/>
            <a:cxnLst/>
            <a:rect r="r" b="b" t="t" l="l"/>
            <a:pathLst>
              <a:path h="3169488" w="3163725">
                <a:moveTo>
                  <a:pt x="0" y="0"/>
                </a:moveTo>
                <a:lnTo>
                  <a:pt x="3163725" y="0"/>
                </a:lnTo>
                <a:lnTo>
                  <a:pt x="3163725" y="3169488"/>
                </a:lnTo>
                <a:lnTo>
                  <a:pt x="0" y="31694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55898" y="8511095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79071" y="5661381"/>
            <a:ext cx="3339771" cy="3339771"/>
          </a:xfrm>
          <a:custGeom>
            <a:avLst/>
            <a:gdLst/>
            <a:ahLst/>
            <a:cxnLst/>
            <a:rect r="r" b="b" t="t" l="l"/>
            <a:pathLst>
              <a:path h="3339771" w="3339771">
                <a:moveTo>
                  <a:pt x="0" y="0"/>
                </a:moveTo>
                <a:lnTo>
                  <a:pt x="3339771" y="0"/>
                </a:lnTo>
                <a:lnTo>
                  <a:pt x="3339771" y="3339771"/>
                </a:lnTo>
                <a:lnTo>
                  <a:pt x="0" y="33397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75148" y="56576"/>
            <a:ext cx="7173808" cy="280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153"/>
              </a:lnSpc>
            </a:pPr>
            <a:r>
              <a:rPr lang="en-US" sz="7374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METHO</a:t>
            </a:r>
            <a:r>
              <a:rPr lang="en-US" sz="7374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DOLOGY &amp; TECHNOLOGY STACK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27970" y="3167145"/>
            <a:ext cx="10430321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PROGRAMMING &amp;</a:t>
            </a:r>
            <a:r>
              <a:rPr lang="en-US" sz="6846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 DATA</a:t>
            </a:r>
            <a:r>
              <a:rPr lang="ar-EG" sz="6846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27970" y="4463694"/>
            <a:ext cx="10598051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Python</a:t>
            </a:r>
            <a:r>
              <a:rPr lang="en-US" sz="6846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 / SQL / Pandas</a:t>
            </a:r>
            <a:r>
              <a:rPr lang="ar-EG" sz="6846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656475"/>
            <a:ext cx="5893936" cy="4865176"/>
          </a:xfrm>
          <a:custGeom>
            <a:avLst/>
            <a:gdLst/>
            <a:ahLst/>
            <a:cxnLst/>
            <a:rect r="r" b="b" t="t" l="l"/>
            <a:pathLst>
              <a:path h="4865176" w="5893936">
                <a:moveTo>
                  <a:pt x="0" y="0"/>
                </a:moveTo>
                <a:lnTo>
                  <a:pt x="5893936" y="0"/>
                </a:lnTo>
                <a:lnTo>
                  <a:pt x="5893936" y="4865176"/>
                </a:lnTo>
                <a:lnTo>
                  <a:pt x="0" y="48651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57997" y="-1738611"/>
            <a:ext cx="4542485" cy="5067681"/>
          </a:xfrm>
          <a:custGeom>
            <a:avLst/>
            <a:gdLst/>
            <a:ahLst/>
            <a:cxnLst/>
            <a:rect r="r" b="b" t="t" l="l"/>
            <a:pathLst>
              <a:path h="5067681" w="4542485">
                <a:moveTo>
                  <a:pt x="0" y="0"/>
                </a:moveTo>
                <a:lnTo>
                  <a:pt x="4542485" y="0"/>
                </a:lnTo>
                <a:lnTo>
                  <a:pt x="4542485" y="5067681"/>
                </a:lnTo>
                <a:lnTo>
                  <a:pt x="0" y="5067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64579" y="-789515"/>
            <a:ext cx="3163725" cy="3169488"/>
          </a:xfrm>
          <a:custGeom>
            <a:avLst/>
            <a:gdLst/>
            <a:ahLst/>
            <a:cxnLst/>
            <a:rect r="r" b="b" t="t" l="l"/>
            <a:pathLst>
              <a:path h="3169488" w="3163725">
                <a:moveTo>
                  <a:pt x="0" y="0"/>
                </a:moveTo>
                <a:lnTo>
                  <a:pt x="3163725" y="0"/>
                </a:lnTo>
                <a:lnTo>
                  <a:pt x="3163725" y="3169488"/>
                </a:lnTo>
                <a:lnTo>
                  <a:pt x="0" y="31694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55898" y="8511095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915926" y="416513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504253" y="114300"/>
            <a:ext cx="7173808" cy="280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153"/>
              </a:lnSpc>
            </a:pPr>
            <a:r>
              <a:rPr lang="en-US" sz="7374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METHO</a:t>
            </a:r>
            <a:r>
              <a:rPr lang="en-US" sz="7374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DOLOGY &amp; TECHNOLOGY STACK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58419" y="3167145"/>
            <a:ext cx="8969425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MACHINE</a:t>
            </a:r>
            <a:r>
              <a:rPr lang="en-US" sz="6846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 LEARNING</a:t>
            </a:r>
            <a:r>
              <a:rPr lang="ar-EG" sz="6846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26112" y="4463694"/>
            <a:ext cx="5801767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Scikit-le</a:t>
            </a:r>
            <a:r>
              <a:rPr lang="en-US" sz="6846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arn</a:t>
            </a:r>
            <a:r>
              <a:rPr lang="ar-EG" sz="6846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656475"/>
            <a:ext cx="5893936" cy="4865176"/>
          </a:xfrm>
          <a:custGeom>
            <a:avLst/>
            <a:gdLst/>
            <a:ahLst/>
            <a:cxnLst/>
            <a:rect r="r" b="b" t="t" l="l"/>
            <a:pathLst>
              <a:path h="4865176" w="5893936">
                <a:moveTo>
                  <a:pt x="0" y="0"/>
                </a:moveTo>
                <a:lnTo>
                  <a:pt x="5893936" y="0"/>
                </a:lnTo>
                <a:lnTo>
                  <a:pt x="5893936" y="4865176"/>
                </a:lnTo>
                <a:lnTo>
                  <a:pt x="0" y="48651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57997" y="-1738611"/>
            <a:ext cx="4542485" cy="5067681"/>
          </a:xfrm>
          <a:custGeom>
            <a:avLst/>
            <a:gdLst/>
            <a:ahLst/>
            <a:cxnLst/>
            <a:rect r="r" b="b" t="t" l="l"/>
            <a:pathLst>
              <a:path h="5067681" w="4542485">
                <a:moveTo>
                  <a:pt x="0" y="0"/>
                </a:moveTo>
                <a:lnTo>
                  <a:pt x="4542485" y="0"/>
                </a:lnTo>
                <a:lnTo>
                  <a:pt x="4542485" y="5067681"/>
                </a:lnTo>
                <a:lnTo>
                  <a:pt x="0" y="5067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64579" y="-789515"/>
            <a:ext cx="3163725" cy="3169488"/>
          </a:xfrm>
          <a:custGeom>
            <a:avLst/>
            <a:gdLst/>
            <a:ahLst/>
            <a:cxnLst/>
            <a:rect r="r" b="b" t="t" l="l"/>
            <a:pathLst>
              <a:path h="3169488" w="3163725">
                <a:moveTo>
                  <a:pt x="0" y="0"/>
                </a:moveTo>
                <a:lnTo>
                  <a:pt x="3163725" y="0"/>
                </a:lnTo>
                <a:lnTo>
                  <a:pt x="3163725" y="3169488"/>
                </a:lnTo>
                <a:lnTo>
                  <a:pt x="0" y="31694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55898" y="8511095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73232" y="4364833"/>
            <a:ext cx="4586068" cy="4114800"/>
          </a:xfrm>
          <a:custGeom>
            <a:avLst/>
            <a:gdLst/>
            <a:ahLst/>
            <a:cxnLst/>
            <a:rect r="r" b="b" t="t" l="l"/>
            <a:pathLst>
              <a:path h="4114800" w="4586068">
                <a:moveTo>
                  <a:pt x="0" y="0"/>
                </a:moveTo>
                <a:lnTo>
                  <a:pt x="4586068" y="0"/>
                </a:lnTo>
                <a:lnTo>
                  <a:pt x="45860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75148" y="56576"/>
            <a:ext cx="7173808" cy="280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153"/>
              </a:lnSpc>
            </a:pPr>
            <a:r>
              <a:rPr lang="en-US" sz="7374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METHO</a:t>
            </a:r>
            <a:r>
              <a:rPr lang="en-US" sz="7374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DOLOGY &amp; TECHNOLOGY STACK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95391" y="3167145"/>
            <a:ext cx="6695480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VISUALIZ</a:t>
            </a:r>
            <a:r>
              <a:rPr lang="en-US" sz="6846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47963" y="4463694"/>
            <a:ext cx="9758065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Tableau</a:t>
            </a:r>
            <a:r>
              <a:rPr lang="en-US" sz="6846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 / Matplotlib</a:t>
            </a:r>
            <a:r>
              <a:rPr lang="ar-EG" sz="6846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656475"/>
            <a:ext cx="5893936" cy="4865176"/>
          </a:xfrm>
          <a:custGeom>
            <a:avLst/>
            <a:gdLst/>
            <a:ahLst/>
            <a:cxnLst/>
            <a:rect r="r" b="b" t="t" l="l"/>
            <a:pathLst>
              <a:path h="4865176" w="5893936">
                <a:moveTo>
                  <a:pt x="0" y="0"/>
                </a:moveTo>
                <a:lnTo>
                  <a:pt x="5893936" y="0"/>
                </a:lnTo>
                <a:lnTo>
                  <a:pt x="5893936" y="4865176"/>
                </a:lnTo>
                <a:lnTo>
                  <a:pt x="0" y="48651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57997" y="-1738611"/>
            <a:ext cx="4542485" cy="5067681"/>
          </a:xfrm>
          <a:custGeom>
            <a:avLst/>
            <a:gdLst/>
            <a:ahLst/>
            <a:cxnLst/>
            <a:rect r="r" b="b" t="t" l="l"/>
            <a:pathLst>
              <a:path h="5067681" w="4542485">
                <a:moveTo>
                  <a:pt x="0" y="0"/>
                </a:moveTo>
                <a:lnTo>
                  <a:pt x="4542485" y="0"/>
                </a:lnTo>
                <a:lnTo>
                  <a:pt x="4542485" y="5067681"/>
                </a:lnTo>
                <a:lnTo>
                  <a:pt x="0" y="5067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64579" y="-789515"/>
            <a:ext cx="3163725" cy="3169488"/>
          </a:xfrm>
          <a:custGeom>
            <a:avLst/>
            <a:gdLst/>
            <a:ahLst/>
            <a:cxnLst/>
            <a:rect r="r" b="b" t="t" l="l"/>
            <a:pathLst>
              <a:path h="3169488" w="3163725">
                <a:moveTo>
                  <a:pt x="0" y="0"/>
                </a:moveTo>
                <a:lnTo>
                  <a:pt x="3163725" y="0"/>
                </a:lnTo>
                <a:lnTo>
                  <a:pt x="3163725" y="3169488"/>
                </a:lnTo>
                <a:lnTo>
                  <a:pt x="0" y="31694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55898" y="8511095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546748" y="5255343"/>
            <a:ext cx="3501321" cy="4114800"/>
          </a:xfrm>
          <a:custGeom>
            <a:avLst/>
            <a:gdLst/>
            <a:ahLst/>
            <a:cxnLst/>
            <a:rect r="r" b="b" t="t" l="l"/>
            <a:pathLst>
              <a:path h="4114800" w="3501321">
                <a:moveTo>
                  <a:pt x="0" y="0"/>
                </a:moveTo>
                <a:lnTo>
                  <a:pt x="3501320" y="0"/>
                </a:lnTo>
                <a:lnTo>
                  <a:pt x="35013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75148" y="56576"/>
            <a:ext cx="7173808" cy="280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153"/>
              </a:lnSpc>
            </a:pPr>
            <a:r>
              <a:rPr lang="en-US" sz="7374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METHO</a:t>
            </a:r>
            <a:r>
              <a:rPr lang="en-US" sz="7374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DOLOGY &amp; TECHNOLOGY STACK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42359" y="3167145"/>
            <a:ext cx="6401544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ENVIR</a:t>
            </a:r>
            <a:r>
              <a:rPr lang="en-US" sz="6846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ONMENT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79230" y="4463694"/>
            <a:ext cx="8295531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Jupyter</a:t>
            </a:r>
            <a:r>
              <a:rPr lang="en-US" sz="6846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 Notebook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857920"/>
            <a:ext cx="14401001" cy="87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6"/>
              </a:lnSpc>
            </a:pPr>
            <a:r>
              <a:rPr lang="en-US" sz="6346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THE D</a:t>
            </a:r>
            <a:r>
              <a:rPr lang="en-US" sz="6346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ATA: WHAT WE ANALYZED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47931" y="2772493"/>
            <a:ext cx="7396069" cy="4175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4"/>
              </a:lnSpc>
            </a:pPr>
            <a:r>
              <a:rPr lang="en-US" sz="4795" spc="52" b="true">
                <a:solidFill>
                  <a:srgbClr val="00000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 </a:t>
            </a:r>
            <a:r>
              <a:rPr lang="en-US" sz="4795" spc="52" b="true">
                <a:solidFill>
                  <a:srgbClr val="FF9852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DATASET COMPONENTS </a:t>
            </a:r>
            <a:r>
              <a:rPr lang="en-US" sz="4795" spc="52" b="true">
                <a:solidFill>
                  <a:srgbClr val="00000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          Machine operation metrics  Downtime events </a:t>
            </a:r>
          </a:p>
          <a:p>
            <a:pPr algn="l">
              <a:lnSpc>
                <a:spcPts val="6574"/>
              </a:lnSpc>
            </a:pPr>
            <a:r>
              <a:rPr lang="en-US" sz="4695" spc="51" b="true">
                <a:solidFill>
                  <a:srgbClr val="00000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Production batch data  Operational KPIs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0664139" y="6913218"/>
            <a:ext cx="7623861" cy="6293151"/>
          </a:xfrm>
          <a:custGeom>
            <a:avLst/>
            <a:gdLst/>
            <a:ahLst/>
            <a:cxnLst/>
            <a:rect r="r" b="b" t="t" l="l"/>
            <a:pathLst>
              <a:path h="6293151" w="7623861">
                <a:moveTo>
                  <a:pt x="7623861" y="0"/>
                </a:moveTo>
                <a:lnTo>
                  <a:pt x="0" y="0"/>
                </a:lnTo>
                <a:lnTo>
                  <a:pt x="0" y="6293151"/>
                </a:lnTo>
                <a:lnTo>
                  <a:pt x="7623861" y="6293151"/>
                </a:lnTo>
                <a:lnTo>
                  <a:pt x="762386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480746" y="7086351"/>
            <a:ext cx="4592401" cy="5165278"/>
          </a:xfrm>
          <a:custGeom>
            <a:avLst/>
            <a:gdLst/>
            <a:ahLst/>
            <a:cxnLst/>
            <a:rect r="r" b="b" t="t" l="l"/>
            <a:pathLst>
              <a:path h="5165278" w="4592401">
                <a:moveTo>
                  <a:pt x="4592401" y="0"/>
                </a:moveTo>
                <a:lnTo>
                  <a:pt x="0" y="0"/>
                </a:lnTo>
                <a:lnTo>
                  <a:pt x="0" y="5165277"/>
                </a:lnTo>
                <a:lnTo>
                  <a:pt x="4592401" y="5165277"/>
                </a:lnTo>
                <a:lnTo>
                  <a:pt x="459240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0800000">
            <a:off x="13941193" y="-2533841"/>
            <a:ext cx="4542485" cy="5067681"/>
          </a:xfrm>
          <a:custGeom>
            <a:avLst/>
            <a:gdLst/>
            <a:ahLst/>
            <a:cxnLst/>
            <a:rect r="r" b="b" t="t" l="l"/>
            <a:pathLst>
              <a:path h="5067681" w="4542485">
                <a:moveTo>
                  <a:pt x="0" y="5067682"/>
                </a:moveTo>
                <a:lnTo>
                  <a:pt x="4542485" y="5067682"/>
                </a:lnTo>
                <a:lnTo>
                  <a:pt x="4542485" y="0"/>
                </a:lnTo>
                <a:lnTo>
                  <a:pt x="0" y="0"/>
                </a:lnTo>
                <a:lnTo>
                  <a:pt x="0" y="506768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918" y="-1888854"/>
            <a:ext cx="3258027" cy="3263961"/>
          </a:xfrm>
          <a:custGeom>
            <a:avLst/>
            <a:gdLst/>
            <a:ahLst/>
            <a:cxnLst/>
            <a:rect r="r" b="b" t="t" l="l"/>
            <a:pathLst>
              <a:path h="3263961" w="3258027">
                <a:moveTo>
                  <a:pt x="0" y="0"/>
                </a:moveTo>
                <a:lnTo>
                  <a:pt x="3258027" y="0"/>
                </a:lnTo>
                <a:lnTo>
                  <a:pt x="3258027" y="3263961"/>
                </a:lnTo>
                <a:lnTo>
                  <a:pt x="0" y="32639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411392" y="8229600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943108" y="-2314274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671420" y="2940017"/>
            <a:ext cx="7541015" cy="4455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782"/>
              </a:lnSpc>
            </a:pPr>
            <a:r>
              <a:rPr lang="en-US" sz="4130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ANALYSIS SCOPE</a:t>
            </a:r>
            <a:r>
              <a:rPr lang="ar-EG" sz="4130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  <a:p>
            <a:pPr algn="ctr" rtl="true">
              <a:lnSpc>
                <a:spcPts val="4942"/>
              </a:lnSpc>
            </a:pPr>
            <a:r>
              <a:rPr lang="ar-EG" sz="3530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  <a:r>
              <a:rPr lang="en-US" sz="3530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Multiple machines across lines</a:t>
            </a:r>
          </a:p>
          <a:p>
            <a:pPr algn="ctr" rtl="true">
              <a:lnSpc>
                <a:spcPts val="4942"/>
              </a:lnSpc>
              <a:spcBef>
                <a:spcPct val="0"/>
              </a:spcBef>
            </a:pPr>
            <a:r>
              <a:rPr lang="en-US" sz="3530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Three-shift schedule Extended historical period</a:t>
            </a:r>
            <a:r>
              <a:rPr lang="ar-EG" sz="3530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  <a:p>
            <a:pPr algn="ctr" rtl="true">
              <a:lnSpc>
                <a:spcPts val="4942"/>
              </a:lnSpc>
              <a:spcBef>
                <a:spcPct val="0"/>
              </a:spcBef>
            </a:pPr>
            <a:r>
              <a:rPr lang="en-US" sz="3530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Root cause variables (operator, age, product)</a:t>
            </a:r>
            <a:r>
              <a:rPr lang="ar-EG" sz="3530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79909" y="6178464"/>
            <a:ext cx="6859826" cy="5662475"/>
          </a:xfrm>
          <a:custGeom>
            <a:avLst/>
            <a:gdLst/>
            <a:ahLst/>
            <a:cxnLst/>
            <a:rect r="r" b="b" t="t" l="l"/>
            <a:pathLst>
              <a:path h="5662475" w="6859826">
                <a:moveTo>
                  <a:pt x="0" y="0"/>
                </a:moveTo>
                <a:lnTo>
                  <a:pt x="6859826" y="0"/>
                </a:lnTo>
                <a:lnTo>
                  <a:pt x="6859826" y="5662475"/>
                </a:lnTo>
                <a:lnTo>
                  <a:pt x="0" y="5662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296201" y="6675661"/>
            <a:ext cx="4592401" cy="5165278"/>
          </a:xfrm>
          <a:custGeom>
            <a:avLst/>
            <a:gdLst/>
            <a:ahLst/>
            <a:cxnLst/>
            <a:rect r="r" b="b" t="t" l="l"/>
            <a:pathLst>
              <a:path h="5165278" w="4592401">
                <a:moveTo>
                  <a:pt x="4592402" y="0"/>
                </a:moveTo>
                <a:lnTo>
                  <a:pt x="0" y="0"/>
                </a:lnTo>
                <a:lnTo>
                  <a:pt x="0" y="5165278"/>
                </a:lnTo>
                <a:lnTo>
                  <a:pt x="4592402" y="5165278"/>
                </a:lnTo>
                <a:lnTo>
                  <a:pt x="459240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77744" y="-41481"/>
            <a:ext cx="3779750" cy="4216760"/>
          </a:xfrm>
          <a:custGeom>
            <a:avLst/>
            <a:gdLst/>
            <a:ahLst/>
            <a:cxnLst/>
            <a:rect r="r" b="b" t="t" l="l"/>
            <a:pathLst>
              <a:path h="4216760" w="3779750">
                <a:moveTo>
                  <a:pt x="0" y="0"/>
                </a:moveTo>
                <a:lnTo>
                  <a:pt x="3779750" y="0"/>
                </a:lnTo>
                <a:lnTo>
                  <a:pt x="3779750" y="4216760"/>
                </a:lnTo>
                <a:lnTo>
                  <a:pt x="0" y="42167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24695" y="-627706"/>
            <a:ext cx="3306789" cy="3312813"/>
          </a:xfrm>
          <a:custGeom>
            <a:avLst/>
            <a:gdLst/>
            <a:ahLst/>
            <a:cxnLst/>
            <a:rect r="r" b="b" t="t" l="l"/>
            <a:pathLst>
              <a:path h="3312813" w="3306789">
                <a:moveTo>
                  <a:pt x="0" y="0"/>
                </a:moveTo>
                <a:lnTo>
                  <a:pt x="3306790" y="0"/>
                </a:lnTo>
                <a:lnTo>
                  <a:pt x="3306790" y="3312812"/>
                </a:lnTo>
                <a:lnTo>
                  <a:pt x="0" y="33128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883972" y="8449310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83972" y="-1739265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31904" y="2456249"/>
            <a:ext cx="10918346" cy="5770890"/>
          </a:xfrm>
          <a:custGeom>
            <a:avLst/>
            <a:gdLst/>
            <a:ahLst/>
            <a:cxnLst/>
            <a:rect r="r" b="b" t="t" l="l"/>
            <a:pathLst>
              <a:path h="5770890" w="10918346">
                <a:moveTo>
                  <a:pt x="0" y="0"/>
                </a:moveTo>
                <a:lnTo>
                  <a:pt x="10918346" y="0"/>
                </a:lnTo>
                <a:lnTo>
                  <a:pt x="10918346" y="5770889"/>
                </a:lnTo>
                <a:lnTo>
                  <a:pt x="0" y="57708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0820" t="-11421" r="-3917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79909" y="6178464"/>
            <a:ext cx="6859826" cy="5662475"/>
          </a:xfrm>
          <a:custGeom>
            <a:avLst/>
            <a:gdLst/>
            <a:ahLst/>
            <a:cxnLst/>
            <a:rect r="r" b="b" t="t" l="l"/>
            <a:pathLst>
              <a:path h="5662475" w="6859826">
                <a:moveTo>
                  <a:pt x="0" y="0"/>
                </a:moveTo>
                <a:lnTo>
                  <a:pt x="6859826" y="0"/>
                </a:lnTo>
                <a:lnTo>
                  <a:pt x="6859826" y="5662475"/>
                </a:lnTo>
                <a:lnTo>
                  <a:pt x="0" y="5662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296201" y="6675661"/>
            <a:ext cx="4592401" cy="5165278"/>
          </a:xfrm>
          <a:custGeom>
            <a:avLst/>
            <a:gdLst/>
            <a:ahLst/>
            <a:cxnLst/>
            <a:rect r="r" b="b" t="t" l="l"/>
            <a:pathLst>
              <a:path h="5165278" w="4592401">
                <a:moveTo>
                  <a:pt x="4592402" y="0"/>
                </a:moveTo>
                <a:lnTo>
                  <a:pt x="0" y="0"/>
                </a:lnTo>
                <a:lnTo>
                  <a:pt x="0" y="5165278"/>
                </a:lnTo>
                <a:lnTo>
                  <a:pt x="4592402" y="5165278"/>
                </a:lnTo>
                <a:lnTo>
                  <a:pt x="459240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98125" y="406925"/>
            <a:ext cx="3779750" cy="4216760"/>
          </a:xfrm>
          <a:custGeom>
            <a:avLst/>
            <a:gdLst/>
            <a:ahLst/>
            <a:cxnLst/>
            <a:rect r="r" b="b" t="t" l="l"/>
            <a:pathLst>
              <a:path h="4216760" w="3779750">
                <a:moveTo>
                  <a:pt x="0" y="0"/>
                </a:moveTo>
                <a:lnTo>
                  <a:pt x="3779750" y="0"/>
                </a:lnTo>
                <a:lnTo>
                  <a:pt x="3779750" y="4216760"/>
                </a:lnTo>
                <a:lnTo>
                  <a:pt x="0" y="42167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61293" y="-2083390"/>
            <a:ext cx="3306789" cy="3312813"/>
          </a:xfrm>
          <a:custGeom>
            <a:avLst/>
            <a:gdLst/>
            <a:ahLst/>
            <a:cxnLst/>
            <a:rect r="r" b="b" t="t" l="l"/>
            <a:pathLst>
              <a:path h="3312813" w="3306789">
                <a:moveTo>
                  <a:pt x="0" y="0"/>
                </a:moveTo>
                <a:lnTo>
                  <a:pt x="3306789" y="0"/>
                </a:lnTo>
                <a:lnTo>
                  <a:pt x="3306789" y="3312813"/>
                </a:lnTo>
                <a:lnTo>
                  <a:pt x="0" y="33128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883972" y="8449310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38097" y="-3086100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27812" y="2046479"/>
            <a:ext cx="14251636" cy="6343628"/>
          </a:xfrm>
          <a:custGeom>
            <a:avLst/>
            <a:gdLst/>
            <a:ahLst/>
            <a:cxnLst/>
            <a:rect r="r" b="b" t="t" l="l"/>
            <a:pathLst>
              <a:path h="6343628" w="14251636">
                <a:moveTo>
                  <a:pt x="0" y="0"/>
                </a:moveTo>
                <a:lnTo>
                  <a:pt x="14251636" y="0"/>
                </a:lnTo>
                <a:lnTo>
                  <a:pt x="14251636" y="6343627"/>
                </a:lnTo>
                <a:lnTo>
                  <a:pt x="0" y="6343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445" t="-1621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21937" y="885825"/>
            <a:ext cx="13876188" cy="99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905"/>
              </a:lnSpc>
              <a:spcBef>
                <a:spcPct val="0"/>
              </a:spcBef>
            </a:pPr>
            <a:r>
              <a:rPr lang="en-US" sz="5646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KEY</a:t>
            </a:r>
            <a:r>
              <a:rPr lang="en-US" sz="5646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FINDINGS: DOWNTIME PATTERNS</a:t>
            </a:r>
            <a:r>
              <a:rPr lang="ar-EG" sz="5646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5405479"/>
            <a:ext cx="11052422" cy="9123272"/>
          </a:xfrm>
          <a:custGeom>
            <a:avLst/>
            <a:gdLst/>
            <a:ahLst/>
            <a:cxnLst/>
            <a:rect r="r" b="b" t="t" l="l"/>
            <a:pathLst>
              <a:path h="9123272" w="11052422">
                <a:moveTo>
                  <a:pt x="0" y="0"/>
                </a:moveTo>
                <a:lnTo>
                  <a:pt x="11052422" y="0"/>
                </a:lnTo>
                <a:lnTo>
                  <a:pt x="11052422" y="9123272"/>
                </a:lnTo>
                <a:lnTo>
                  <a:pt x="0" y="9123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765076" y="5842279"/>
            <a:ext cx="4592401" cy="5165278"/>
          </a:xfrm>
          <a:custGeom>
            <a:avLst/>
            <a:gdLst/>
            <a:ahLst/>
            <a:cxnLst/>
            <a:rect r="r" b="b" t="t" l="l"/>
            <a:pathLst>
              <a:path h="5165278" w="4592401">
                <a:moveTo>
                  <a:pt x="4592402" y="0"/>
                </a:moveTo>
                <a:lnTo>
                  <a:pt x="0" y="0"/>
                </a:lnTo>
                <a:lnTo>
                  <a:pt x="0" y="5165277"/>
                </a:lnTo>
                <a:lnTo>
                  <a:pt x="4592402" y="5165277"/>
                </a:lnTo>
                <a:lnTo>
                  <a:pt x="459240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05560" y="-1923158"/>
            <a:ext cx="4542485" cy="5067681"/>
          </a:xfrm>
          <a:custGeom>
            <a:avLst/>
            <a:gdLst/>
            <a:ahLst/>
            <a:cxnLst/>
            <a:rect r="r" b="b" t="t" l="l"/>
            <a:pathLst>
              <a:path h="5067681" w="4542485">
                <a:moveTo>
                  <a:pt x="0" y="0"/>
                </a:moveTo>
                <a:lnTo>
                  <a:pt x="4542485" y="0"/>
                </a:lnTo>
                <a:lnTo>
                  <a:pt x="4542485" y="5067681"/>
                </a:lnTo>
                <a:lnTo>
                  <a:pt x="0" y="5067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152789" y="-783513"/>
            <a:ext cx="2783320" cy="2788390"/>
          </a:xfrm>
          <a:custGeom>
            <a:avLst/>
            <a:gdLst/>
            <a:ahLst/>
            <a:cxnLst/>
            <a:rect r="r" b="b" t="t" l="l"/>
            <a:pathLst>
              <a:path h="2788390" w="2783320">
                <a:moveTo>
                  <a:pt x="0" y="0"/>
                </a:moveTo>
                <a:lnTo>
                  <a:pt x="2783320" y="0"/>
                </a:lnTo>
                <a:lnTo>
                  <a:pt x="2783320" y="2788390"/>
                </a:lnTo>
                <a:lnTo>
                  <a:pt x="0" y="27883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827316" y="-3229700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8871" y="486857"/>
            <a:ext cx="13368104" cy="1644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505"/>
              </a:lnSpc>
              <a:spcBef>
                <a:spcPct val="0"/>
              </a:spcBef>
            </a:pPr>
            <a:r>
              <a:rPr lang="en-US" sz="4646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FORECASTING MODEL: PROACTIVE</a:t>
            </a:r>
            <a:r>
              <a:rPr lang="en-US" sz="4646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PREVENTION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464716"/>
            <a:ext cx="9904958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49B697"/>
                </a:solidFill>
                <a:latin typeface="Zantiqa"/>
                <a:ea typeface="Zantiqa"/>
                <a:cs typeface="Zantiqa"/>
                <a:sym typeface="Zantiqa"/>
              </a:rPr>
              <a:t>NEXT-DAY</a:t>
            </a:r>
            <a:r>
              <a:rPr lang="en-US" sz="6846">
                <a:solidFill>
                  <a:srgbClr val="49B697"/>
                </a:solidFill>
                <a:latin typeface="Zantiqa"/>
                <a:ea typeface="Zantiqa"/>
                <a:cs typeface="Zantiqa"/>
                <a:sym typeface="Zantiqa"/>
              </a:rPr>
              <a:t> PREDICTION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576679"/>
            <a:ext cx="10186276" cy="235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674"/>
              </a:lnSpc>
              <a:spcBef>
                <a:spcPct val="0"/>
              </a:spcBef>
            </a:pPr>
            <a:r>
              <a:rPr lang="en-US" sz="3339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Machine learning models forecast expected</a:t>
            </a:r>
            <a:r>
              <a:rPr lang="en-US" sz="3339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downtime hours for the following operational day, allowing for preemptive maintenance scheduling</a:t>
            </a:r>
            <a:r>
              <a:rPr lang="ar-EG" sz="3339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5405479"/>
            <a:ext cx="11052422" cy="9123272"/>
          </a:xfrm>
          <a:custGeom>
            <a:avLst/>
            <a:gdLst/>
            <a:ahLst/>
            <a:cxnLst/>
            <a:rect r="r" b="b" t="t" l="l"/>
            <a:pathLst>
              <a:path h="9123272" w="11052422">
                <a:moveTo>
                  <a:pt x="0" y="0"/>
                </a:moveTo>
                <a:lnTo>
                  <a:pt x="11052422" y="0"/>
                </a:lnTo>
                <a:lnTo>
                  <a:pt x="11052422" y="9123272"/>
                </a:lnTo>
                <a:lnTo>
                  <a:pt x="0" y="9123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765076" y="5842279"/>
            <a:ext cx="4592401" cy="5165278"/>
          </a:xfrm>
          <a:custGeom>
            <a:avLst/>
            <a:gdLst/>
            <a:ahLst/>
            <a:cxnLst/>
            <a:rect r="r" b="b" t="t" l="l"/>
            <a:pathLst>
              <a:path h="5165278" w="4592401">
                <a:moveTo>
                  <a:pt x="4592402" y="0"/>
                </a:moveTo>
                <a:lnTo>
                  <a:pt x="0" y="0"/>
                </a:lnTo>
                <a:lnTo>
                  <a:pt x="0" y="5165277"/>
                </a:lnTo>
                <a:lnTo>
                  <a:pt x="4592402" y="5165277"/>
                </a:lnTo>
                <a:lnTo>
                  <a:pt x="459240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05560" y="-1923158"/>
            <a:ext cx="4542485" cy="5067681"/>
          </a:xfrm>
          <a:custGeom>
            <a:avLst/>
            <a:gdLst/>
            <a:ahLst/>
            <a:cxnLst/>
            <a:rect r="r" b="b" t="t" l="l"/>
            <a:pathLst>
              <a:path h="5067681" w="4542485">
                <a:moveTo>
                  <a:pt x="0" y="0"/>
                </a:moveTo>
                <a:lnTo>
                  <a:pt x="4542485" y="0"/>
                </a:lnTo>
                <a:lnTo>
                  <a:pt x="4542485" y="5067681"/>
                </a:lnTo>
                <a:lnTo>
                  <a:pt x="0" y="5067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152789" y="-783513"/>
            <a:ext cx="2783320" cy="2788390"/>
          </a:xfrm>
          <a:custGeom>
            <a:avLst/>
            <a:gdLst/>
            <a:ahLst/>
            <a:cxnLst/>
            <a:rect r="r" b="b" t="t" l="l"/>
            <a:pathLst>
              <a:path h="2788390" w="2783320">
                <a:moveTo>
                  <a:pt x="0" y="0"/>
                </a:moveTo>
                <a:lnTo>
                  <a:pt x="2783320" y="0"/>
                </a:lnTo>
                <a:lnTo>
                  <a:pt x="2783320" y="2788390"/>
                </a:lnTo>
                <a:lnTo>
                  <a:pt x="0" y="27883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827316" y="-3229700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8871" y="486857"/>
            <a:ext cx="13368104" cy="1644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505"/>
              </a:lnSpc>
              <a:spcBef>
                <a:spcPct val="0"/>
              </a:spcBef>
            </a:pPr>
            <a:r>
              <a:rPr lang="en-US" sz="4646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FORECASTING MODEL: PROACTIVE</a:t>
            </a:r>
            <a:r>
              <a:rPr lang="en-US" sz="4646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PREVENTION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2464716"/>
            <a:ext cx="14030951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49B697"/>
                </a:solidFill>
                <a:latin typeface="Zantiqa"/>
                <a:ea typeface="Zantiqa"/>
                <a:cs typeface="Zantiqa"/>
                <a:sym typeface="Zantiqa"/>
              </a:rPr>
              <a:t>BATCH CAPACITY</a:t>
            </a:r>
            <a:r>
              <a:rPr lang="en-US" sz="6846">
                <a:solidFill>
                  <a:srgbClr val="49B697"/>
                </a:solidFill>
                <a:latin typeface="Zantiqa"/>
                <a:ea typeface="Zantiqa"/>
                <a:cs typeface="Zantiqa"/>
                <a:sym typeface="Zantiqa"/>
              </a:rPr>
              <a:t> ESTIMATION</a:t>
            </a:r>
            <a:r>
              <a:rPr lang="ar-EG" sz="6846">
                <a:solidFill>
                  <a:srgbClr val="49B697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576679"/>
            <a:ext cx="10186276" cy="235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674"/>
              </a:lnSpc>
              <a:spcBef>
                <a:spcPct val="0"/>
              </a:spcBef>
            </a:pPr>
            <a:r>
              <a:rPr lang="en-US" sz="3339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By integrating predicted</a:t>
            </a:r>
            <a:r>
              <a:rPr lang="en-US" sz="3339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downtime, the system estimates production batch capacity with high precision, optimizing daily scheduling</a:t>
            </a:r>
            <a:r>
              <a:rPr lang="ar-EG" sz="3339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6675661"/>
            <a:ext cx="4592401" cy="5165278"/>
          </a:xfrm>
          <a:custGeom>
            <a:avLst/>
            <a:gdLst/>
            <a:ahLst/>
            <a:cxnLst/>
            <a:rect r="r" b="b" t="t" l="l"/>
            <a:pathLst>
              <a:path h="5165278" w="4592401">
                <a:moveTo>
                  <a:pt x="4592401" y="0"/>
                </a:moveTo>
                <a:lnTo>
                  <a:pt x="0" y="0"/>
                </a:lnTo>
                <a:lnTo>
                  <a:pt x="0" y="5165278"/>
                </a:lnTo>
                <a:lnTo>
                  <a:pt x="4592401" y="5165278"/>
                </a:lnTo>
                <a:lnTo>
                  <a:pt x="459240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5560" y="-1923158"/>
            <a:ext cx="4542485" cy="5067681"/>
          </a:xfrm>
          <a:custGeom>
            <a:avLst/>
            <a:gdLst/>
            <a:ahLst/>
            <a:cxnLst/>
            <a:rect r="r" b="b" t="t" l="l"/>
            <a:pathLst>
              <a:path h="5067681" w="4542485">
                <a:moveTo>
                  <a:pt x="0" y="0"/>
                </a:moveTo>
                <a:lnTo>
                  <a:pt x="4542485" y="0"/>
                </a:lnTo>
                <a:lnTo>
                  <a:pt x="4542485" y="5067681"/>
                </a:lnTo>
                <a:lnTo>
                  <a:pt x="0" y="5067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52789" y="-783513"/>
            <a:ext cx="2783320" cy="2788390"/>
          </a:xfrm>
          <a:custGeom>
            <a:avLst/>
            <a:gdLst/>
            <a:ahLst/>
            <a:cxnLst/>
            <a:rect r="r" b="b" t="t" l="l"/>
            <a:pathLst>
              <a:path h="2788390" w="2783320">
                <a:moveTo>
                  <a:pt x="0" y="0"/>
                </a:moveTo>
                <a:lnTo>
                  <a:pt x="2783320" y="0"/>
                </a:lnTo>
                <a:lnTo>
                  <a:pt x="2783320" y="2788390"/>
                </a:lnTo>
                <a:lnTo>
                  <a:pt x="0" y="27883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827316" y="-3229700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8871" y="486857"/>
            <a:ext cx="13368104" cy="1644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505"/>
              </a:lnSpc>
              <a:spcBef>
                <a:spcPct val="0"/>
              </a:spcBef>
            </a:pPr>
            <a:r>
              <a:rPr lang="en-US" sz="4646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FORECASTING MODEL: PROACTIVE</a:t>
            </a:r>
            <a:r>
              <a:rPr lang="en-US" sz="4646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PREVENTION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2464716"/>
            <a:ext cx="15820004" cy="119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49B697"/>
                </a:solidFill>
                <a:latin typeface="Zantiqa"/>
                <a:ea typeface="Zantiqa"/>
                <a:cs typeface="Zantiqa"/>
                <a:sym typeface="Zantiqa"/>
              </a:rPr>
              <a:t>FEATURE IMPORTANCE ANALY</a:t>
            </a:r>
            <a:r>
              <a:rPr lang="en-US" sz="6846">
                <a:solidFill>
                  <a:srgbClr val="49B697"/>
                </a:solidFill>
                <a:latin typeface="Zantiqa"/>
                <a:ea typeface="Zantiqa"/>
                <a:cs typeface="Zantiqa"/>
                <a:sym typeface="Zantiqa"/>
              </a:rPr>
              <a:t>SIS</a:t>
            </a:r>
            <a:r>
              <a:rPr lang="ar-EG" sz="6846">
                <a:solidFill>
                  <a:srgbClr val="49B697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576679"/>
            <a:ext cx="10186276" cy="235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674"/>
              </a:lnSpc>
              <a:spcBef>
                <a:spcPct val="0"/>
              </a:spcBef>
            </a:pPr>
            <a:r>
              <a:rPr lang="en-US" sz="3339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The model</a:t>
            </a:r>
            <a:r>
              <a:rPr lang="en-US" sz="3339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identifies which operational factors —such as machine age or operator shift—most strongly influence downtime likelihood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33268" y="6366664"/>
            <a:ext cx="14626032" cy="140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705"/>
              </a:lnSpc>
              <a:spcBef>
                <a:spcPct val="0"/>
              </a:spcBef>
            </a:pPr>
            <a:r>
              <a:rPr lang="en-US" sz="2647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BUSINESS APPLICATION Maintenance teams transition from reactive</a:t>
            </a:r>
            <a:r>
              <a:rPr lang="en-US" sz="2647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 "firefighting" to data-driven preventive interventions based on forecasted risk levels</a:t>
            </a:r>
            <a:r>
              <a:rPr lang="ar-EG" sz="2647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. 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22671" y="1280642"/>
            <a:ext cx="11052422" cy="9123272"/>
          </a:xfrm>
          <a:custGeom>
            <a:avLst/>
            <a:gdLst/>
            <a:ahLst/>
            <a:cxnLst/>
            <a:rect r="r" b="b" t="t" l="l"/>
            <a:pathLst>
              <a:path h="9123272" w="11052422">
                <a:moveTo>
                  <a:pt x="0" y="0"/>
                </a:moveTo>
                <a:lnTo>
                  <a:pt x="11052422" y="0"/>
                </a:lnTo>
                <a:lnTo>
                  <a:pt x="11052422" y="9123273"/>
                </a:lnTo>
                <a:lnTo>
                  <a:pt x="0" y="91232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765076" y="5842279"/>
            <a:ext cx="4592401" cy="5165278"/>
          </a:xfrm>
          <a:custGeom>
            <a:avLst/>
            <a:gdLst/>
            <a:ahLst/>
            <a:cxnLst/>
            <a:rect r="r" b="b" t="t" l="l"/>
            <a:pathLst>
              <a:path h="5165278" w="4592401">
                <a:moveTo>
                  <a:pt x="4592402" y="0"/>
                </a:moveTo>
                <a:lnTo>
                  <a:pt x="0" y="0"/>
                </a:lnTo>
                <a:lnTo>
                  <a:pt x="0" y="5165277"/>
                </a:lnTo>
                <a:lnTo>
                  <a:pt x="4592402" y="5165277"/>
                </a:lnTo>
                <a:lnTo>
                  <a:pt x="459240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05560" y="-1923158"/>
            <a:ext cx="4542485" cy="5067681"/>
          </a:xfrm>
          <a:custGeom>
            <a:avLst/>
            <a:gdLst/>
            <a:ahLst/>
            <a:cxnLst/>
            <a:rect r="r" b="b" t="t" l="l"/>
            <a:pathLst>
              <a:path h="5067681" w="4542485">
                <a:moveTo>
                  <a:pt x="0" y="0"/>
                </a:moveTo>
                <a:lnTo>
                  <a:pt x="4542485" y="0"/>
                </a:lnTo>
                <a:lnTo>
                  <a:pt x="4542485" y="5067681"/>
                </a:lnTo>
                <a:lnTo>
                  <a:pt x="0" y="5067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152789" y="-783513"/>
            <a:ext cx="2783320" cy="2788390"/>
          </a:xfrm>
          <a:custGeom>
            <a:avLst/>
            <a:gdLst/>
            <a:ahLst/>
            <a:cxnLst/>
            <a:rect r="r" b="b" t="t" l="l"/>
            <a:pathLst>
              <a:path h="2788390" w="2783320">
                <a:moveTo>
                  <a:pt x="0" y="0"/>
                </a:moveTo>
                <a:lnTo>
                  <a:pt x="2783320" y="0"/>
                </a:lnTo>
                <a:lnTo>
                  <a:pt x="2783320" y="2788390"/>
                </a:lnTo>
                <a:lnTo>
                  <a:pt x="0" y="27883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827316" y="-3229700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8871" y="486857"/>
            <a:ext cx="13368104" cy="1644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505"/>
              </a:lnSpc>
              <a:spcBef>
                <a:spcPct val="0"/>
              </a:spcBef>
            </a:pPr>
            <a:r>
              <a:rPr lang="en-US" sz="4646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FORECASTING MODEL: PROACTIVE</a:t>
            </a:r>
            <a:r>
              <a:rPr lang="en-US" sz="4646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PREVENTION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675071" y="1433042"/>
            <a:ext cx="11052422" cy="9123272"/>
          </a:xfrm>
          <a:custGeom>
            <a:avLst/>
            <a:gdLst/>
            <a:ahLst/>
            <a:cxnLst/>
            <a:rect r="r" b="b" t="t" l="l"/>
            <a:pathLst>
              <a:path h="9123272" w="11052422">
                <a:moveTo>
                  <a:pt x="0" y="0"/>
                </a:moveTo>
                <a:lnTo>
                  <a:pt x="11052422" y="0"/>
                </a:lnTo>
                <a:lnTo>
                  <a:pt x="11052422" y="9123273"/>
                </a:lnTo>
                <a:lnTo>
                  <a:pt x="0" y="91232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27326" y="2525630"/>
            <a:ext cx="12260520" cy="7124025"/>
          </a:xfrm>
          <a:custGeom>
            <a:avLst/>
            <a:gdLst/>
            <a:ahLst/>
            <a:cxnLst/>
            <a:rect r="r" b="b" t="t" l="l"/>
            <a:pathLst>
              <a:path h="7124025" w="12260520">
                <a:moveTo>
                  <a:pt x="0" y="0"/>
                </a:moveTo>
                <a:lnTo>
                  <a:pt x="12260519" y="0"/>
                </a:lnTo>
                <a:lnTo>
                  <a:pt x="12260519" y="7124025"/>
                </a:lnTo>
                <a:lnTo>
                  <a:pt x="0" y="71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673" t="0" r="-673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471175" y="5050886"/>
            <a:ext cx="4592401" cy="5165278"/>
          </a:xfrm>
          <a:custGeom>
            <a:avLst/>
            <a:gdLst/>
            <a:ahLst/>
            <a:cxnLst/>
            <a:rect r="r" b="b" t="t" l="l"/>
            <a:pathLst>
              <a:path h="5165278" w="4592401">
                <a:moveTo>
                  <a:pt x="4592402" y="0"/>
                </a:moveTo>
                <a:lnTo>
                  <a:pt x="0" y="0"/>
                </a:lnTo>
                <a:lnTo>
                  <a:pt x="0" y="5165278"/>
                </a:lnTo>
                <a:lnTo>
                  <a:pt x="4592402" y="5165278"/>
                </a:lnTo>
                <a:lnTo>
                  <a:pt x="45924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5560" y="-1923158"/>
            <a:ext cx="4542485" cy="5067681"/>
          </a:xfrm>
          <a:custGeom>
            <a:avLst/>
            <a:gdLst/>
            <a:ahLst/>
            <a:cxnLst/>
            <a:rect r="r" b="b" t="t" l="l"/>
            <a:pathLst>
              <a:path h="5067681" w="4542485">
                <a:moveTo>
                  <a:pt x="0" y="0"/>
                </a:moveTo>
                <a:lnTo>
                  <a:pt x="4542485" y="0"/>
                </a:lnTo>
                <a:lnTo>
                  <a:pt x="4542485" y="5067681"/>
                </a:lnTo>
                <a:lnTo>
                  <a:pt x="0" y="5067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52789" y="-783513"/>
            <a:ext cx="2783320" cy="2788390"/>
          </a:xfrm>
          <a:custGeom>
            <a:avLst/>
            <a:gdLst/>
            <a:ahLst/>
            <a:cxnLst/>
            <a:rect r="r" b="b" t="t" l="l"/>
            <a:pathLst>
              <a:path h="2788390" w="2783320">
                <a:moveTo>
                  <a:pt x="0" y="0"/>
                </a:moveTo>
                <a:lnTo>
                  <a:pt x="2783320" y="0"/>
                </a:lnTo>
                <a:lnTo>
                  <a:pt x="2783320" y="2788390"/>
                </a:lnTo>
                <a:lnTo>
                  <a:pt x="0" y="27883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827316" y="-3229700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55753" y="360785"/>
            <a:ext cx="13368104" cy="1644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505"/>
              </a:lnSpc>
              <a:spcBef>
                <a:spcPct val="0"/>
              </a:spcBef>
            </a:pPr>
            <a:r>
              <a:rPr lang="en-US" sz="4646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INTERACTIVE DASHBOARD: OPERATIONAL</a:t>
            </a:r>
            <a:r>
              <a:rPr lang="en-US" sz="4646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INTELLIGENCE</a:t>
            </a:r>
            <a:r>
              <a:rPr lang="ar-EG" sz="4646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5753" y="1818411"/>
            <a:ext cx="5880795" cy="824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505"/>
              </a:lnSpc>
              <a:spcBef>
                <a:spcPct val="0"/>
              </a:spcBef>
            </a:pPr>
            <a:r>
              <a:rPr lang="en-US" sz="4646">
                <a:solidFill>
                  <a:srgbClr val="F87D5D"/>
                </a:solidFill>
                <a:latin typeface="Zantiqa"/>
                <a:ea typeface="Zantiqa"/>
                <a:cs typeface="Zantiqa"/>
                <a:sym typeface="Zantiqa"/>
              </a:rPr>
              <a:t>DOWNTIME</a:t>
            </a:r>
            <a:r>
              <a:rPr lang="en-US" sz="4646">
                <a:solidFill>
                  <a:srgbClr val="F87D5D"/>
                </a:solidFill>
                <a:latin typeface="Zantiqa"/>
                <a:ea typeface="Zantiqa"/>
                <a:cs typeface="Zantiqa"/>
                <a:sym typeface="Zantiqa"/>
              </a:rPr>
              <a:t> TRENDS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6444" y="2573620"/>
            <a:ext cx="13228335" cy="1065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265"/>
              </a:lnSpc>
              <a:spcBef>
                <a:spcPct val="0"/>
              </a:spcBef>
            </a:pPr>
            <a:r>
              <a:rPr lang="en-US" sz="3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Visual representation of downtime patterns over time, enabling rapid trend</a:t>
            </a:r>
            <a:r>
              <a:rPr lang="en-US" sz="3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identification and seasonal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714621"/>
            <a:ext cx="6499175" cy="824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505"/>
              </a:lnSpc>
              <a:spcBef>
                <a:spcPct val="0"/>
              </a:spcBef>
            </a:pPr>
            <a:r>
              <a:rPr lang="en-US" sz="4646">
                <a:solidFill>
                  <a:srgbClr val="F87D5D"/>
                </a:solidFill>
                <a:latin typeface="Zantiqa"/>
                <a:ea typeface="Zantiqa"/>
                <a:cs typeface="Zantiqa"/>
                <a:sym typeface="Zantiqa"/>
              </a:rPr>
              <a:t>MACHINE EFFICIENCY</a:t>
            </a:r>
            <a:r>
              <a:rPr lang="ar-EG" sz="4646">
                <a:solidFill>
                  <a:srgbClr val="F87D5D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1920" y="4572597"/>
            <a:ext cx="12669256" cy="1065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265"/>
              </a:lnSpc>
              <a:spcBef>
                <a:spcPct val="0"/>
              </a:spcBef>
            </a:pPr>
            <a:r>
              <a:rPr lang="en-US" sz="3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Side-by-side performance metrics</a:t>
            </a:r>
            <a:r>
              <a:rPr lang="en-US" sz="3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across all production equipment to identify underperforming assets</a:t>
            </a:r>
            <a:r>
              <a:rPr lang="ar-EG" sz="3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619153"/>
            <a:ext cx="7130951" cy="824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505"/>
              </a:lnSpc>
              <a:spcBef>
                <a:spcPct val="0"/>
              </a:spcBef>
            </a:pPr>
            <a:r>
              <a:rPr lang="en-US" sz="4646">
                <a:solidFill>
                  <a:srgbClr val="F87D5D"/>
                </a:solidFill>
                <a:latin typeface="Zantiqa"/>
                <a:ea typeface="Zantiqa"/>
                <a:cs typeface="Zantiqa"/>
                <a:sym typeface="Zantiqa"/>
              </a:rPr>
              <a:t>FORECASTING INSIGHTS</a:t>
            </a:r>
            <a:r>
              <a:rPr lang="ar-EG" sz="4646">
                <a:solidFill>
                  <a:srgbClr val="F87D5D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5753" y="6567919"/>
            <a:ext cx="11914499" cy="1065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265"/>
              </a:lnSpc>
              <a:spcBef>
                <a:spcPct val="0"/>
              </a:spcBef>
            </a:pPr>
            <a:r>
              <a:rPr lang="en-US" sz="3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Integration of ML predictions directly into the UI to guide</a:t>
            </a:r>
            <a:r>
              <a:rPr lang="en-US" sz="3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proactive maintenance and scheduling decisions</a:t>
            </a:r>
            <a:r>
              <a:rPr lang="ar-EG" sz="3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709725"/>
            <a:ext cx="7757220" cy="824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505"/>
              </a:lnSpc>
              <a:spcBef>
                <a:spcPct val="0"/>
              </a:spcBef>
            </a:pPr>
            <a:r>
              <a:rPr lang="en-US" sz="4646">
                <a:solidFill>
                  <a:srgbClr val="F87D5D"/>
                </a:solidFill>
                <a:latin typeface="Zantiqa"/>
                <a:ea typeface="Zantiqa"/>
                <a:cs typeface="Zantiqa"/>
                <a:sym typeface="Zantiqa"/>
              </a:rPr>
              <a:t>DRILL-DOWN</a:t>
            </a:r>
            <a:r>
              <a:rPr lang="en-US" sz="4646">
                <a:solidFill>
                  <a:srgbClr val="F87D5D"/>
                </a:solidFill>
                <a:latin typeface="Zantiqa"/>
                <a:ea typeface="Zantiqa"/>
                <a:cs typeface="Zantiqa"/>
                <a:sym typeface="Zantiqa"/>
              </a:rPr>
              <a:t> CAPABILITY</a:t>
            </a:r>
            <a:r>
              <a:rPr lang="ar-EG" sz="4646">
                <a:solidFill>
                  <a:srgbClr val="F87D5D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5753" y="8458467"/>
            <a:ext cx="11698727" cy="1065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265"/>
              </a:lnSpc>
              <a:spcBef>
                <a:spcPct val="0"/>
              </a:spcBef>
            </a:pPr>
            <a:r>
              <a:rPr lang="en-US" sz="3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Interactive filters for shifts, operators, and machine types to isolate root causes of</a:t>
            </a:r>
            <a:r>
              <a:rPr lang="en-US" sz="3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interruptions</a:t>
            </a:r>
            <a:r>
              <a:rPr lang="ar-EG" sz="3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471175" y="5050886"/>
            <a:ext cx="4592401" cy="5165278"/>
          </a:xfrm>
          <a:custGeom>
            <a:avLst/>
            <a:gdLst/>
            <a:ahLst/>
            <a:cxnLst/>
            <a:rect r="r" b="b" t="t" l="l"/>
            <a:pathLst>
              <a:path h="5165278" w="4592401">
                <a:moveTo>
                  <a:pt x="4592402" y="0"/>
                </a:moveTo>
                <a:lnTo>
                  <a:pt x="0" y="0"/>
                </a:lnTo>
                <a:lnTo>
                  <a:pt x="0" y="5165278"/>
                </a:lnTo>
                <a:lnTo>
                  <a:pt x="4592402" y="5165278"/>
                </a:lnTo>
                <a:lnTo>
                  <a:pt x="45924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5560" y="-1923158"/>
            <a:ext cx="4542485" cy="5067681"/>
          </a:xfrm>
          <a:custGeom>
            <a:avLst/>
            <a:gdLst/>
            <a:ahLst/>
            <a:cxnLst/>
            <a:rect r="r" b="b" t="t" l="l"/>
            <a:pathLst>
              <a:path h="5067681" w="4542485">
                <a:moveTo>
                  <a:pt x="0" y="0"/>
                </a:moveTo>
                <a:lnTo>
                  <a:pt x="4542485" y="0"/>
                </a:lnTo>
                <a:lnTo>
                  <a:pt x="4542485" y="5067681"/>
                </a:lnTo>
                <a:lnTo>
                  <a:pt x="0" y="5067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52789" y="-783513"/>
            <a:ext cx="2783320" cy="2788390"/>
          </a:xfrm>
          <a:custGeom>
            <a:avLst/>
            <a:gdLst/>
            <a:ahLst/>
            <a:cxnLst/>
            <a:rect r="r" b="b" t="t" l="l"/>
            <a:pathLst>
              <a:path h="2788390" w="2783320">
                <a:moveTo>
                  <a:pt x="0" y="0"/>
                </a:moveTo>
                <a:lnTo>
                  <a:pt x="2783320" y="0"/>
                </a:lnTo>
                <a:lnTo>
                  <a:pt x="2783320" y="2788390"/>
                </a:lnTo>
                <a:lnTo>
                  <a:pt x="0" y="27883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827316" y="-3229700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83268" y="3553263"/>
            <a:ext cx="11535186" cy="5238574"/>
          </a:xfrm>
          <a:custGeom>
            <a:avLst/>
            <a:gdLst/>
            <a:ahLst/>
            <a:cxnLst/>
            <a:rect r="r" b="b" t="t" l="l"/>
            <a:pathLst>
              <a:path h="5238574" w="11535186">
                <a:moveTo>
                  <a:pt x="0" y="0"/>
                </a:moveTo>
                <a:lnTo>
                  <a:pt x="11535186" y="0"/>
                </a:lnTo>
                <a:lnTo>
                  <a:pt x="11535186" y="5238575"/>
                </a:lnTo>
                <a:lnTo>
                  <a:pt x="0" y="52385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55753" y="1561291"/>
            <a:ext cx="13368104" cy="78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225"/>
              </a:lnSpc>
              <a:spcBef>
                <a:spcPct val="0"/>
              </a:spcBef>
            </a:pPr>
            <a:r>
              <a:rPr lang="en-US" sz="4446">
                <a:solidFill>
                  <a:srgbClr val="49B697"/>
                </a:solidFill>
                <a:latin typeface="Zantiqa"/>
                <a:ea typeface="Zantiqa"/>
                <a:cs typeface="Zantiqa"/>
                <a:sym typeface="Zantiqa"/>
              </a:rPr>
              <a:t>BUSINESS IMPACT: MEASURABLE</a:t>
            </a:r>
            <a:r>
              <a:rPr lang="en-US" sz="4446">
                <a:solidFill>
                  <a:srgbClr val="49B697"/>
                </a:solidFill>
                <a:latin typeface="Zantiqa"/>
                <a:ea typeface="Zantiqa"/>
                <a:cs typeface="Zantiqa"/>
                <a:sym typeface="Zantiqa"/>
              </a:rPr>
              <a:t> OUTCOMES</a:t>
            </a:r>
            <a:r>
              <a:rPr lang="ar-EG" sz="4446">
                <a:solidFill>
                  <a:srgbClr val="49B697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471175" y="5050886"/>
            <a:ext cx="4592401" cy="5165278"/>
          </a:xfrm>
          <a:custGeom>
            <a:avLst/>
            <a:gdLst/>
            <a:ahLst/>
            <a:cxnLst/>
            <a:rect r="r" b="b" t="t" l="l"/>
            <a:pathLst>
              <a:path h="5165278" w="4592401">
                <a:moveTo>
                  <a:pt x="4592402" y="0"/>
                </a:moveTo>
                <a:lnTo>
                  <a:pt x="0" y="0"/>
                </a:lnTo>
                <a:lnTo>
                  <a:pt x="0" y="5165278"/>
                </a:lnTo>
                <a:lnTo>
                  <a:pt x="4592402" y="5165278"/>
                </a:lnTo>
                <a:lnTo>
                  <a:pt x="45924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5560" y="-1923158"/>
            <a:ext cx="4542485" cy="5067681"/>
          </a:xfrm>
          <a:custGeom>
            <a:avLst/>
            <a:gdLst/>
            <a:ahLst/>
            <a:cxnLst/>
            <a:rect r="r" b="b" t="t" l="l"/>
            <a:pathLst>
              <a:path h="5067681" w="4542485">
                <a:moveTo>
                  <a:pt x="0" y="0"/>
                </a:moveTo>
                <a:lnTo>
                  <a:pt x="4542485" y="0"/>
                </a:lnTo>
                <a:lnTo>
                  <a:pt x="4542485" y="5067681"/>
                </a:lnTo>
                <a:lnTo>
                  <a:pt x="0" y="5067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52789" y="-783513"/>
            <a:ext cx="2783320" cy="2788390"/>
          </a:xfrm>
          <a:custGeom>
            <a:avLst/>
            <a:gdLst/>
            <a:ahLst/>
            <a:cxnLst/>
            <a:rect r="r" b="b" t="t" l="l"/>
            <a:pathLst>
              <a:path h="2788390" w="2783320">
                <a:moveTo>
                  <a:pt x="0" y="0"/>
                </a:moveTo>
                <a:lnTo>
                  <a:pt x="2783320" y="0"/>
                </a:lnTo>
                <a:lnTo>
                  <a:pt x="2783320" y="2788390"/>
                </a:lnTo>
                <a:lnTo>
                  <a:pt x="0" y="27883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827316" y="-3229700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55753" y="2509719"/>
            <a:ext cx="11719097" cy="5940777"/>
          </a:xfrm>
          <a:custGeom>
            <a:avLst/>
            <a:gdLst/>
            <a:ahLst/>
            <a:cxnLst/>
            <a:rect r="r" b="b" t="t" l="l"/>
            <a:pathLst>
              <a:path h="5940777" w="11719097">
                <a:moveTo>
                  <a:pt x="0" y="0"/>
                </a:moveTo>
                <a:lnTo>
                  <a:pt x="11719097" y="0"/>
                </a:lnTo>
                <a:lnTo>
                  <a:pt x="11719097" y="5940777"/>
                </a:lnTo>
                <a:lnTo>
                  <a:pt x="0" y="594077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559" b="-527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55753" y="1561291"/>
            <a:ext cx="13368104" cy="78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225"/>
              </a:lnSpc>
              <a:spcBef>
                <a:spcPct val="0"/>
              </a:spcBef>
            </a:pPr>
            <a:r>
              <a:rPr lang="en-US" sz="4446">
                <a:solidFill>
                  <a:srgbClr val="49B697"/>
                </a:solidFill>
                <a:latin typeface="Zantiqa"/>
                <a:ea typeface="Zantiqa"/>
                <a:cs typeface="Zantiqa"/>
                <a:sym typeface="Zantiqa"/>
              </a:rPr>
              <a:t>BUSINESS IMPACT: MEASURABLE</a:t>
            </a:r>
            <a:r>
              <a:rPr lang="en-US" sz="4446">
                <a:solidFill>
                  <a:srgbClr val="49B697"/>
                </a:solidFill>
                <a:latin typeface="Zantiqa"/>
                <a:ea typeface="Zantiqa"/>
                <a:cs typeface="Zantiqa"/>
                <a:sym typeface="Zantiqa"/>
              </a:rPr>
              <a:t> OUTCOMES</a:t>
            </a:r>
            <a:r>
              <a:rPr lang="ar-EG" sz="4446">
                <a:solidFill>
                  <a:srgbClr val="49B697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88972" y="4657416"/>
            <a:ext cx="4592401" cy="5165278"/>
          </a:xfrm>
          <a:custGeom>
            <a:avLst/>
            <a:gdLst/>
            <a:ahLst/>
            <a:cxnLst/>
            <a:rect r="r" b="b" t="t" l="l"/>
            <a:pathLst>
              <a:path h="5165278" w="4592401">
                <a:moveTo>
                  <a:pt x="0" y="0"/>
                </a:moveTo>
                <a:lnTo>
                  <a:pt x="4592401" y="0"/>
                </a:lnTo>
                <a:lnTo>
                  <a:pt x="4592401" y="5165278"/>
                </a:lnTo>
                <a:lnTo>
                  <a:pt x="0" y="51652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2142" y="-3901539"/>
            <a:ext cx="4844030" cy="4852854"/>
          </a:xfrm>
          <a:custGeom>
            <a:avLst/>
            <a:gdLst/>
            <a:ahLst/>
            <a:cxnLst/>
            <a:rect r="r" b="b" t="t" l="l"/>
            <a:pathLst>
              <a:path h="4852854" w="4844030">
                <a:moveTo>
                  <a:pt x="0" y="0"/>
                </a:moveTo>
                <a:lnTo>
                  <a:pt x="4844030" y="0"/>
                </a:lnTo>
                <a:lnTo>
                  <a:pt x="4844030" y="4852854"/>
                </a:lnTo>
                <a:lnTo>
                  <a:pt x="0" y="4852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55898" y="8511095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89036" y="0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2206" y="2490509"/>
            <a:ext cx="9495420" cy="7332185"/>
          </a:xfrm>
          <a:custGeom>
            <a:avLst/>
            <a:gdLst/>
            <a:ahLst/>
            <a:cxnLst/>
            <a:rect r="r" b="b" t="t" l="l"/>
            <a:pathLst>
              <a:path h="7332185" w="9495420">
                <a:moveTo>
                  <a:pt x="0" y="0"/>
                </a:moveTo>
                <a:lnTo>
                  <a:pt x="9495420" y="0"/>
                </a:lnTo>
                <a:lnTo>
                  <a:pt x="9495420" y="7332185"/>
                </a:lnTo>
                <a:lnTo>
                  <a:pt x="0" y="73321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463" r="0" b="-485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30858"/>
            <a:ext cx="10281493" cy="926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05"/>
              </a:lnSpc>
              <a:spcBef>
                <a:spcPct val="0"/>
              </a:spcBef>
            </a:pPr>
            <a:r>
              <a:rPr lang="en-US" sz="5146">
                <a:solidFill>
                  <a:srgbClr val="F87D5D"/>
                </a:solidFill>
                <a:latin typeface="Zantiqa"/>
                <a:ea typeface="Zantiqa"/>
                <a:cs typeface="Zantiqa"/>
                <a:sym typeface="Zantiqa"/>
              </a:rPr>
              <a:t>TEAM &amp; EXECUTION ROADMAP</a:t>
            </a:r>
            <a:r>
              <a:rPr lang="ar-EG" sz="5146">
                <a:solidFill>
                  <a:srgbClr val="F87D5D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88972" y="4657416"/>
            <a:ext cx="4592401" cy="5165278"/>
          </a:xfrm>
          <a:custGeom>
            <a:avLst/>
            <a:gdLst/>
            <a:ahLst/>
            <a:cxnLst/>
            <a:rect r="r" b="b" t="t" l="l"/>
            <a:pathLst>
              <a:path h="5165278" w="4592401">
                <a:moveTo>
                  <a:pt x="0" y="0"/>
                </a:moveTo>
                <a:lnTo>
                  <a:pt x="4592401" y="0"/>
                </a:lnTo>
                <a:lnTo>
                  <a:pt x="4592401" y="5165278"/>
                </a:lnTo>
                <a:lnTo>
                  <a:pt x="0" y="51652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2142" y="-3901539"/>
            <a:ext cx="4844030" cy="4852854"/>
          </a:xfrm>
          <a:custGeom>
            <a:avLst/>
            <a:gdLst/>
            <a:ahLst/>
            <a:cxnLst/>
            <a:rect r="r" b="b" t="t" l="l"/>
            <a:pathLst>
              <a:path h="4852854" w="4844030">
                <a:moveTo>
                  <a:pt x="0" y="0"/>
                </a:moveTo>
                <a:lnTo>
                  <a:pt x="4844030" y="0"/>
                </a:lnTo>
                <a:lnTo>
                  <a:pt x="4844030" y="4852854"/>
                </a:lnTo>
                <a:lnTo>
                  <a:pt x="0" y="4852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55898" y="8511095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89036" y="0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1192" y="2282970"/>
            <a:ext cx="9724720" cy="7761698"/>
          </a:xfrm>
          <a:custGeom>
            <a:avLst/>
            <a:gdLst/>
            <a:ahLst/>
            <a:cxnLst/>
            <a:rect r="r" b="b" t="t" l="l"/>
            <a:pathLst>
              <a:path h="7761698" w="9724720">
                <a:moveTo>
                  <a:pt x="0" y="0"/>
                </a:moveTo>
                <a:lnTo>
                  <a:pt x="9724720" y="0"/>
                </a:lnTo>
                <a:lnTo>
                  <a:pt x="9724720" y="7761698"/>
                </a:lnTo>
                <a:lnTo>
                  <a:pt x="0" y="77616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375" t="0" r="-4375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30858"/>
            <a:ext cx="10281493" cy="926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05"/>
              </a:lnSpc>
              <a:spcBef>
                <a:spcPct val="0"/>
              </a:spcBef>
            </a:pPr>
            <a:r>
              <a:rPr lang="en-US" sz="5146">
                <a:solidFill>
                  <a:srgbClr val="F87D5D"/>
                </a:solidFill>
                <a:latin typeface="Zantiqa"/>
                <a:ea typeface="Zantiqa"/>
                <a:cs typeface="Zantiqa"/>
                <a:sym typeface="Zantiqa"/>
              </a:rPr>
              <a:t>TEAM &amp; EXECUTION ROADMAP</a:t>
            </a:r>
            <a:r>
              <a:rPr lang="ar-EG" sz="5146">
                <a:solidFill>
                  <a:srgbClr val="F87D5D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56413" y="5403218"/>
            <a:ext cx="4592401" cy="5165278"/>
          </a:xfrm>
          <a:custGeom>
            <a:avLst/>
            <a:gdLst/>
            <a:ahLst/>
            <a:cxnLst/>
            <a:rect r="r" b="b" t="t" l="l"/>
            <a:pathLst>
              <a:path h="5165278" w="4592401">
                <a:moveTo>
                  <a:pt x="0" y="0"/>
                </a:moveTo>
                <a:lnTo>
                  <a:pt x="4592402" y="0"/>
                </a:lnTo>
                <a:lnTo>
                  <a:pt x="4592402" y="5165277"/>
                </a:lnTo>
                <a:lnTo>
                  <a:pt x="0" y="51652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53084" y="-783513"/>
            <a:ext cx="4542485" cy="5067681"/>
          </a:xfrm>
          <a:custGeom>
            <a:avLst/>
            <a:gdLst/>
            <a:ahLst/>
            <a:cxnLst/>
            <a:rect r="r" b="b" t="t" l="l"/>
            <a:pathLst>
              <a:path h="5067681" w="4542485">
                <a:moveTo>
                  <a:pt x="0" y="0"/>
                </a:moveTo>
                <a:lnTo>
                  <a:pt x="4542485" y="0"/>
                </a:lnTo>
                <a:lnTo>
                  <a:pt x="4542485" y="5067682"/>
                </a:lnTo>
                <a:lnTo>
                  <a:pt x="0" y="50676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55898" y="8511095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764818" y="-3086100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2410" y="1033972"/>
            <a:ext cx="12653516" cy="716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665"/>
              </a:lnSpc>
              <a:spcBef>
                <a:spcPct val="0"/>
              </a:spcBef>
            </a:pPr>
            <a:r>
              <a:rPr lang="en-US" sz="4047">
                <a:solidFill>
                  <a:srgbClr val="F87D5D"/>
                </a:solidFill>
                <a:latin typeface="Zantiqa"/>
                <a:ea typeface="Zantiqa"/>
                <a:cs typeface="Zantiqa"/>
                <a:sym typeface="Zantiqa"/>
              </a:rPr>
              <a:t>FUTURE ROADMAP: CONTINUOUS</a:t>
            </a:r>
            <a:r>
              <a:rPr lang="en-US" sz="4047">
                <a:solidFill>
                  <a:srgbClr val="F87D5D"/>
                </a:solidFill>
                <a:latin typeface="Zantiqa"/>
                <a:ea typeface="Zantiqa"/>
                <a:cs typeface="Zantiqa"/>
                <a:sym typeface="Zantiqa"/>
              </a:rPr>
              <a:t> IMPROVEMENT</a:t>
            </a:r>
            <a:r>
              <a:rPr lang="ar-EG" sz="4047">
                <a:solidFill>
                  <a:srgbClr val="F87D5D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93031"/>
            <a:ext cx="3280321" cy="824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505"/>
              </a:lnSpc>
              <a:spcBef>
                <a:spcPct val="0"/>
              </a:spcBef>
            </a:pPr>
            <a:r>
              <a:rPr lang="en-US" sz="46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PHASE</a:t>
            </a:r>
            <a:r>
              <a:rPr lang="en-US" sz="46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 2.0</a:t>
            </a:r>
            <a:r>
              <a:rPr lang="ar-EG" sz="46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7167" y="2994147"/>
            <a:ext cx="4342571" cy="1644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505"/>
              </a:lnSpc>
              <a:spcBef>
                <a:spcPct val="0"/>
              </a:spcBef>
            </a:pPr>
            <a:r>
              <a:rPr lang="en-US" sz="4646">
                <a:solidFill>
                  <a:srgbClr val="093A47"/>
                </a:solidFill>
                <a:latin typeface="Zantiqa"/>
                <a:ea typeface="Zantiqa"/>
                <a:cs typeface="Zantiqa"/>
                <a:sym typeface="Zantiqa"/>
              </a:rPr>
              <a:t>ADVANCED</a:t>
            </a:r>
            <a:r>
              <a:rPr lang="en-US" sz="4646">
                <a:solidFill>
                  <a:srgbClr val="093A47"/>
                </a:solidFill>
                <a:latin typeface="Zantiqa"/>
                <a:ea typeface="Zantiqa"/>
                <a:cs typeface="Zantiqa"/>
                <a:sym typeface="Zantiqa"/>
              </a:rPr>
              <a:t> FORECASTING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4716742"/>
            <a:ext cx="4960345" cy="266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265"/>
              </a:lnSpc>
              <a:spcBef>
                <a:spcPct val="0"/>
              </a:spcBef>
            </a:pPr>
            <a:r>
              <a:rPr lang="en-US" sz="3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Moving beyond regression to deep learning architectures for complex temporal</a:t>
            </a:r>
            <a:r>
              <a:rPr lang="en-US" sz="3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patterns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54459" y="2293031"/>
            <a:ext cx="3280321" cy="824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505"/>
              </a:lnSpc>
              <a:spcBef>
                <a:spcPct val="0"/>
              </a:spcBef>
            </a:pPr>
            <a:r>
              <a:rPr lang="en-US" sz="46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PHASE</a:t>
            </a:r>
            <a:r>
              <a:rPr lang="en-US" sz="46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 3.0</a:t>
            </a:r>
            <a:r>
              <a:rPr lang="ar-EG" sz="46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29076" y="2293031"/>
            <a:ext cx="3280321" cy="824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505"/>
              </a:lnSpc>
              <a:spcBef>
                <a:spcPct val="0"/>
              </a:spcBef>
            </a:pPr>
            <a:r>
              <a:rPr lang="en-US" sz="46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PHASE</a:t>
            </a:r>
            <a:r>
              <a:rPr lang="en-US" sz="46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 4.0</a:t>
            </a:r>
            <a:r>
              <a:rPr lang="ar-EG" sz="46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49637" y="2994147"/>
            <a:ext cx="4089966" cy="1644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505"/>
              </a:lnSpc>
              <a:spcBef>
                <a:spcPct val="0"/>
              </a:spcBef>
            </a:pPr>
            <a:r>
              <a:rPr lang="en-US" sz="4646">
                <a:solidFill>
                  <a:srgbClr val="093A47"/>
                </a:solidFill>
                <a:latin typeface="Zantiqa"/>
                <a:ea typeface="Zantiqa"/>
                <a:cs typeface="Zantiqa"/>
                <a:sym typeface="Zantiqa"/>
              </a:rPr>
              <a:t>REAL-TIME</a:t>
            </a:r>
            <a:r>
              <a:rPr lang="en-US" sz="4646">
                <a:solidFill>
                  <a:srgbClr val="093A47"/>
                </a:solidFill>
                <a:latin typeface="Zantiqa"/>
                <a:ea typeface="Zantiqa"/>
                <a:cs typeface="Zantiqa"/>
                <a:sym typeface="Zantiqa"/>
              </a:rPr>
              <a:t> MONITORING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19501" y="2994147"/>
            <a:ext cx="4341551" cy="1644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505"/>
              </a:lnSpc>
              <a:spcBef>
                <a:spcPct val="0"/>
              </a:spcBef>
            </a:pPr>
            <a:r>
              <a:rPr lang="en-US" sz="4646">
                <a:solidFill>
                  <a:srgbClr val="093A47"/>
                </a:solidFill>
                <a:latin typeface="Zantiqa"/>
                <a:ea typeface="Zantiqa"/>
                <a:cs typeface="Zantiqa"/>
                <a:sym typeface="Zantiqa"/>
              </a:rPr>
              <a:t>PREDICTIVE</a:t>
            </a:r>
            <a:r>
              <a:rPr lang="en-US" sz="4646">
                <a:solidFill>
                  <a:srgbClr val="093A47"/>
                </a:solidFill>
                <a:latin typeface="Zantiqa"/>
                <a:ea typeface="Zantiqa"/>
                <a:cs typeface="Zantiqa"/>
                <a:sym typeface="Zantiqa"/>
              </a:rPr>
              <a:t> MAINTENANCE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19501" y="4716742"/>
            <a:ext cx="5201180" cy="213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265"/>
              </a:lnSpc>
              <a:spcBef>
                <a:spcPct val="0"/>
              </a:spcBef>
            </a:pPr>
            <a:r>
              <a:rPr lang="en-US" sz="3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Developing prescriptive</a:t>
            </a:r>
            <a:r>
              <a:rPr lang="en-US" sz="3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models that suggest optimal maintenance actions autonomously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77187" y="4676339"/>
            <a:ext cx="4434866" cy="266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265"/>
              </a:lnSpc>
              <a:spcBef>
                <a:spcPct val="0"/>
              </a:spcBef>
            </a:pPr>
            <a:r>
              <a:rPr lang="en-US" sz="3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Transitioning</a:t>
            </a:r>
            <a:r>
              <a:rPr lang="en-US" sz="3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from batch processing to live streaming data for immediate intervention</a:t>
            </a:r>
            <a:r>
              <a:rPr lang="ar-EG" sz="3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29913" y="6963421"/>
            <a:ext cx="6859826" cy="5662475"/>
          </a:xfrm>
          <a:custGeom>
            <a:avLst/>
            <a:gdLst/>
            <a:ahLst/>
            <a:cxnLst/>
            <a:rect r="r" b="b" t="t" l="l"/>
            <a:pathLst>
              <a:path h="5662475" w="6859826">
                <a:moveTo>
                  <a:pt x="0" y="0"/>
                </a:moveTo>
                <a:lnTo>
                  <a:pt x="6859826" y="0"/>
                </a:lnTo>
                <a:lnTo>
                  <a:pt x="6859826" y="5662474"/>
                </a:lnTo>
                <a:lnTo>
                  <a:pt x="0" y="56624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56413" y="5403218"/>
            <a:ext cx="4592401" cy="5165278"/>
          </a:xfrm>
          <a:custGeom>
            <a:avLst/>
            <a:gdLst/>
            <a:ahLst/>
            <a:cxnLst/>
            <a:rect r="r" b="b" t="t" l="l"/>
            <a:pathLst>
              <a:path h="5165278" w="4592401">
                <a:moveTo>
                  <a:pt x="0" y="0"/>
                </a:moveTo>
                <a:lnTo>
                  <a:pt x="4592402" y="0"/>
                </a:lnTo>
                <a:lnTo>
                  <a:pt x="4592402" y="5165277"/>
                </a:lnTo>
                <a:lnTo>
                  <a:pt x="0" y="51652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53084" y="-783513"/>
            <a:ext cx="4542485" cy="5067681"/>
          </a:xfrm>
          <a:custGeom>
            <a:avLst/>
            <a:gdLst/>
            <a:ahLst/>
            <a:cxnLst/>
            <a:rect r="r" b="b" t="t" l="l"/>
            <a:pathLst>
              <a:path h="5067681" w="4542485">
                <a:moveTo>
                  <a:pt x="0" y="0"/>
                </a:moveTo>
                <a:lnTo>
                  <a:pt x="4542485" y="0"/>
                </a:lnTo>
                <a:lnTo>
                  <a:pt x="4542485" y="5067682"/>
                </a:lnTo>
                <a:lnTo>
                  <a:pt x="0" y="50676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32320" y="-2107638"/>
            <a:ext cx="4844030" cy="4852854"/>
          </a:xfrm>
          <a:custGeom>
            <a:avLst/>
            <a:gdLst/>
            <a:ahLst/>
            <a:cxnLst/>
            <a:rect r="r" b="b" t="t" l="l"/>
            <a:pathLst>
              <a:path h="4852854" w="4844030">
                <a:moveTo>
                  <a:pt x="0" y="0"/>
                </a:moveTo>
                <a:lnTo>
                  <a:pt x="4844030" y="0"/>
                </a:lnTo>
                <a:lnTo>
                  <a:pt x="4844030" y="4852853"/>
                </a:lnTo>
                <a:lnTo>
                  <a:pt x="0" y="48528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55898" y="8511095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75167" y="-3427946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43867" y="563029"/>
            <a:ext cx="10391329" cy="824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5"/>
              </a:lnSpc>
              <a:spcBef>
                <a:spcPct val="0"/>
              </a:spcBef>
            </a:pPr>
            <a:r>
              <a:rPr lang="en-US" sz="4646">
                <a:solidFill>
                  <a:srgbClr val="F87D5D"/>
                </a:solidFill>
                <a:latin typeface="Zantiqa"/>
                <a:ea typeface="Zantiqa"/>
                <a:cs typeface="Zantiqa"/>
                <a:sym typeface="Zantiqa"/>
              </a:rPr>
              <a:t>CONCLUSION: THE PATH FORWARD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11710" y="1626503"/>
            <a:ext cx="637282" cy="824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5"/>
              </a:lnSpc>
              <a:spcBef>
                <a:spcPct val="0"/>
              </a:spcBef>
            </a:pPr>
            <a:r>
              <a:rPr lang="en-US" sz="46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43867" y="3905884"/>
            <a:ext cx="805006" cy="824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5"/>
              </a:lnSpc>
              <a:spcBef>
                <a:spcPct val="0"/>
              </a:spcBef>
            </a:pPr>
            <a:r>
              <a:rPr lang="en-US" sz="46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43867" y="6188151"/>
            <a:ext cx="712887" cy="824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5"/>
              </a:lnSpc>
              <a:spcBef>
                <a:spcPct val="0"/>
              </a:spcBef>
            </a:pPr>
            <a:r>
              <a:rPr lang="en-US" sz="4646">
                <a:solidFill>
                  <a:srgbClr val="FF9852"/>
                </a:solidFill>
                <a:latin typeface="Zantiqa"/>
                <a:ea typeface="Zantiqa"/>
                <a:cs typeface="Zantiqa"/>
                <a:sym typeface="Zantiqa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91772" y="1626503"/>
            <a:ext cx="7082284" cy="824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505"/>
              </a:lnSpc>
              <a:spcBef>
                <a:spcPct val="0"/>
              </a:spcBef>
            </a:pPr>
            <a:r>
              <a:rPr lang="en-US" sz="4646">
                <a:solidFill>
                  <a:srgbClr val="093A47"/>
                </a:solidFill>
                <a:latin typeface="Zantiqa"/>
                <a:ea typeface="Zantiqa"/>
                <a:cs typeface="Zantiqa"/>
                <a:sym typeface="Zantiqa"/>
              </a:rPr>
              <a:t>DATA-DRIVEN</a:t>
            </a:r>
            <a:r>
              <a:rPr lang="en-US" sz="4646">
                <a:solidFill>
                  <a:srgbClr val="093A47"/>
                </a:solidFill>
                <a:latin typeface="Zantiqa"/>
                <a:ea typeface="Zantiqa"/>
                <a:cs typeface="Zantiqa"/>
                <a:sym typeface="Zantiqa"/>
              </a:rPr>
              <a:t> CULTURE</a:t>
            </a:r>
            <a:r>
              <a:rPr lang="ar-EG" sz="4646">
                <a:solidFill>
                  <a:srgbClr val="093A47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86019" y="3905884"/>
            <a:ext cx="6157981" cy="824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505"/>
              </a:lnSpc>
              <a:spcBef>
                <a:spcPct val="0"/>
              </a:spcBef>
            </a:pPr>
            <a:r>
              <a:rPr lang="en-US" sz="4646">
                <a:solidFill>
                  <a:srgbClr val="093A47"/>
                </a:solidFill>
                <a:latin typeface="Zantiqa"/>
                <a:ea typeface="Zantiqa"/>
                <a:cs typeface="Zantiqa"/>
                <a:sym typeface="Zantiqa"/>
              </a:rPr>
              <a:t>PREDICTIVE POWER</a:t>
            </a:r>
            <a:r>
              <a:rPr lang="ar-EG" sz="4646">
                <a:solidFill>
                  <a:srgbClr val="093A47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34089" y="6188151"/>
            <a:ext cx="6197650" cy="824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505"/>
              </a:lnSpc>
              <a:spcBef>
                <a:spcPct val="0"/>
              </a:spcBef>
            </a:pPr>
            <a:r>
              <a:rPr lang="en-US" sz="4646">
                <a:solidFill>
                  <a:srgbClr val="093A47"/>
                </a:solidFill>
                <a:latin typeface="Zantiqa"/>
                <a:ea typeface="Zantiqa"/>
                <a:cs typeface="Zantiqa"/>
                <a:sym typeface="Zantiqa"/>
              </a:rPr>
              <a:t>SCALABLE</a:t>
            </a:r>
            <a:r>
              <a:rPr lang="en-US" sz="4646">
                <a:solidFill>
                  <a:srgbClr val="093A47"/>
                </a:solidFill>
                <a:latin typeface="Zantiqa"/>
                <a:ea typeface="Zantiqa"/>
                <a:cs typeface="Zantiqa"/>
                <a:sym typeface="Zantiqa"/>
              </a:rPr>
              <a:t> INSIGHTS</a:t>
            </a:r>
            <a:r>
              <a:rPr lang="ar-EG" sz="4646">
                <a:solidFill>
                  <a:srgbClr val="093A47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2742" y="2375245"/>
            <a:ext cx="12473578" cy="159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265"/>
              </a:lnSpc>
              <a:spcBef>
                <a:spcPct val="0"/>
              </a:spcBef>
            </a:pPr>
            <a:r>
              <a:rPr lang="en-US" sz="3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Transitioning from intuition-based decisions to a rigorous ,</a:t>
            </a:r>
            <a:r>
              <a:rPr lang="en-US" sz="3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data-driven operational framework ensures long-term manufacturing excellence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2742" y="4712970"/>
            <a:ext cx="12473578" cy="159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265"/>
              </a:lnSpc>
              <a:spcBef>
                <a:spcPct val="0"/>
              </a:spcBef>
            </a:pPr>
            <a:r>
              <a:rPr lang="en-US" sz="3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Leveraging machine learning for downtime forecasting transforms</a:t>
            </a:r>
            <a:r>
              <a:rPr lang="en-US" sz="3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maintenance from a reactive cost center to a proactive strategic asset</a:t>
            </a:r>
            <a:r>
              <a:rPr lang="ar-EG" sz="3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  <a:rtl val="true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2711" y="6994042"/>
            <a:ext cx="12417670" cy="159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265"/>
              </a:lnSpc>
              <a:spcBef>
                <a:spcPct val="0"/>
              </a:spcBef>
            </a:pPr>
            <a:r>
              <a:rPr lang="en-US" sz="3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The developed architecture provides a scalable foundation</a:t>
            </a:r>
            <a:r>
              <a:rPr lang="en-US" sz="3047">
                <a:solidFill>
                  <a:srgbClr val="000000"/>
                </a:solidFill>
                <a:latin typeface="Zantiqa"/>
                <a:ea typeface="Zantiqa"/>
                <a:cs typeface="Zantiqa"/>
                <a:sym typeface="Zantiqa"/>
              </a:rPr>
              <a:t> for integrating realtime IoT data and advanced prescriptive analytics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95833" y="3501536"/>
            <a:ext cx="13096334" cy="3543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87"/>
              </a:lnSpc>
            </a:pPr>
            <a:r>
              <a:rPr lang="en-US" sz="13698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Welcome to Q&amp;A Time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5859176"/>
            <a:ext cx="6859826" cy="5662475"/>
          </a:xfrm>
          <a:custGeom>
            <a:avLst/>
            <a:gdLst/>
            <a:ahLst/>
            <a:cxnLst/>
            <a:rect r="r" b="b" t="t" l="l"/>
            <a:pathLst>
              <a:path h="5662475" w="6859826">
                <a:moveTo>
                  <a:pt x="0" y="0"/>
                </a:moveTo>
                <a:lnTo>
                  <a:pt x="6859826" y="0"/>
                </a:lnTo>
                <a:lnTo>
                  <a:pt x="6859826" y="5662475"/>
                </a:lnTo>
                <a:lnTo>
                  <a:pt x="0" y="5662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56413" y="5403218"/>
            <a:ext cx="4592401" cy="5165278"/>
          </a:xfrm>
          <a:custGeom>
            <a:avLst/>
            <a:gdLst/>
            <a:ahLst/>
            <a:cxnLst/>
            <a:rect r="r" b="b" t="t" l="l"/>
            <a:pathLst>
              <a:path h="5165278" w="4592401">
                <a:moveTo>
                  <a:pt x="0" y="0"/>
                </a:moveTo>
                <a:lnTo>
                  <a:pt x="4592402" y="0"/>
                </a:lnTo>
                <a:lnTo>
                  <a:pt x="4592402" y="5165277"/>
                </a:lnTo>
                <a:lnTo>
                  <a:pt x="0" y="51652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53084" y="-783513"/>
            <a:ext cx="4542485" cy="5067681"/>
          </a:xfrm>
          <a:custGeom>
            <a:avLst/>
            <a:gdLst/>
            <a:ahLst/>
            <a:cxnLst/>
            <a:rect r="r" b="b" t="t" l="l"/>
            <a:pathLst>
              <a:path h="5067681" w="4542485">
                <a:moveTo>
                  <a:pt x="0" y="0"/>
                </a:moveTo>
                <a:lnTo>
                  <a:pt x="4542485" y="0"/>
                </a:lnTo>
                <a:lnTo>
                  <a:pt x="4542485" y="5067682"/>
                </a:lnTo>
                <a:lnTo>
                  <a:pt x="0" y="50676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23958" y="-1245913"/>
            <a:ext cx="4844030" cy="4852854"/>
          </a:xfrm>
          <a:custGeom>
            <a:avLst/>
            <a:gdLst/>
            <a:ahLst/>
            <a:cxnLst/>
            <a:rect r="r" b="b" t="t" l="l"/>
            <a:pathLst>
              <a:path h="4852854" w="4844030">
                <a:moveTo>
                  <a:pt x="0" y="0"/>
                </a:moveTo>
                <a:lnTo>
                  <a:pt x="4844031" y="0"/>
                </a:lnTo>
                <a:lnTo>
                  <a:pt x="4844031" y="4852853"/>
                </a:lnTo>
                <a:lnTo>
                  <a:pt x="0" y="48528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55898" y="8511095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01417" y="-1738611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B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02607" y="2966587"/>
            <a:ext cx="11482787" cy="464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26"/>
              </a:lnSpc>
            </a:pPr>
            <a:r>
              <a:rPr lang="en-US" sz="17965">
                <a:solidFill>
                  <a:srgbClr val="226F62"/>
                </a:solidFill>
                <a:latin typeface="Zantiqa"/>
                <a:ea typeface="Zantiqa"/>
                <a:cs typeface="Zantiqa"/>
                <a:sym typeface="Zantiqa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368457" y="5894519"/>
            <a:ext cx="6859826" cy="5662475"/>
          </a:xfrm>
          <a:custGeom>
            <a:avLst/>
            <a:gdLst/>
            <a:ahLst/>
            <a:cxnLst/>
            <a:rect r="r" b="b" t="t" l="l"/>
            <a:pathLst>
              <a:path h="5662475" w="6859826">
                <a:moveTo>
                  <a:pt x="0" y="0"/>
                </a:moveTo>
                <a:lnTo>
                  <a:pt x="6859826" y="0"/>
                </a:lnTo>
                <a:lnTo>
                  <a:pt x="6859826" y="5662474"/>
                </a:lnTo>
                <a:lnTo>
                  <a:pt x="0" y="56624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3651" y="4162892"/>
            <a:ext cx="5695163" cy="6405603"/>
          </a:xfrm>
          <a:custGeom>
            <a:avLst/>
            <a:gdLst/>
            <a:ahLst/>
            <a:cxnLst/>
            <a:rect r="r" b="b" t="t" l="l"/>
            <a:pathLst>
              <a:path h="6405603" w="5695163">
                <a:moveTo>
                  <a:pt x="0" y="0"/>
                </a:moveTo>
                <a:lnTo>
                  <a:pt x="5695164" y="0"/>
                </a:lnTo>
                <a:lnTo>
                  <a:pt x="5695164" y="6405603"/>
                </a:lnTo>
                <a:lnTo>
                  <a:pt x="0" y="64056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67932" y="-717105"/>
            <a:ext cx="4542485" cy="5067681"/>
          </a:xfrm>
          <a:custGeom>
            <a:avLst/>
            <a:gdLst/>
            <a:ahLst/>
            <a:cxnLst/>
            <a:rect r="r" b="b" t="t" l="l"/>
            <a:pathLst>
              <a:path h="5067681" w="4542485">
                <a:moveTo>
                  <a:pt x="0" y="0"/>
                </a:moveTo>
                <a:lnTo>
                  <a:pt x="4542486" y="0"/>
                </a:lnTo>
                <a:lnTo>
                  <a:pt x="4542486" y="5067682"/>
                </a:lnTo>
                <a:lnTo>
                  <a:pt x="0" y="50676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26530" y="-1397727"/>
            <a:ext cx="4844030" cy="4852854"/>
          </a:xfrm>
          <a:custGeom>
            <a:avLst/>
            <a:gdLst/>
            <a:ahLst/>
            <a:cxnLst/>
            <a:rect r="r" b="b" t="t" l="l"/>
            <a:pathLst>
              <a:path h="4852854" w="4844030">
                <a:moveTo>
                  <a:pt x="0" y="0"/>
                </a:moveTo>
                <a:lnTo>
                  <a:pt x="4844030" y="0"/>
                </a:lnTo>
                <a:lnTo>
                  <a:pt x="4844030" y="4852854"/>
                </a:lnTo>
                <a:lnTo>
                  <a:pt x="0" y="48528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55898" y="8511095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45430" y="-2057400"/>
            <a:ext cx="4260028" cy="4114800"/>
          </a:xfrm>
          <a:custGeom>
            <a:avLst/>
            <a:gdLst/>
            <a:ahLst/>
            <a:cxnLst/>
            <a:rect r="r" b="b" t="t" l="l"/>
            <a:pathLst>
              <a:path h="4114800" w="4260028">
                <a:moveTo>
                  <a:pt x="0" y="0"/>
                </a:moveTo>
                <a:lnTo>
                  <a:pt x="4260028" y="0"/>
                </a:lnTo>
                <a:lnTo>
                  <a:pt x="4260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DAHOC8DuA-8</dc:identifier>
  <dcterms:modified xsi:type="dcterms:W3CDTF">2011-08-01T06:04:30Z</dcterms:modified>
  <cp:revision>1</cp:revision>
  <dc:title>manufacturing down time</dc:title>
</cp:coreProperties>
</file>